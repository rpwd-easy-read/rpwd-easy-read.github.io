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7" d="100"/>
          <a:sy n="87" d="100"/>
        </p:scale>
        <p:origin x="66" y="32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notesMaster" Target="notesMasters/notes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presProps" Target="pres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theme" Target="theme/theme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2744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Cover. Title: The RPwD Act 2016 — Easy Read Guide. All 102 sections. Section titles verified against the official Ministry of Law and Justice text. Supported by Vidyasagar.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this guide. Plain explanation of all 102 sections of the RPwD Act 2016. Section titles verified against the official Act text. Not legal advice.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How to use this guide. The five-part anatomy of every Section page. Legal anchors stay so the reader can cite them in complaints.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Map of your rights. All 17 chapters and 102 sections of the RPwD Act 2016, with the section number range and the chapter colour for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I: Preliminary. The basics: who is covered and what the words mean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1 — Short title and commencement. Plain meaning: This section gives the Act its name and tells when it started. The Act began on 19 April 2017 and applies to all of India. Use when: (For reference. This section is the Act's name plate.)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2 — Definitions. Plain meaning: The Act lists 21 disabilities. If you have one of them, you are covered. If your disability is 40% or more, you are called a person with benchmark disability — you get extra rights. Use when: You are not sure if the Act covers you, or whether you have a benchmark disability. Look at the list of 21 disabilities and the 40%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II: Rights and Entitlements. What you can claim, and what is wrong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3 — Equality and non-discrimination. Plain meaning: You have the right to be treated equally. No one can treat you badly because you have a disability. Use when: Someone refused you a service, a job, or a place because of your disability. Cite Section 3 in your complaint.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4 — Women and children with disabilities. Plain meaning: Women and children with disabilities have the same rights as everyone else. The government must protect them from extra harm. Use when: A girl or woman is denied school, work, or safety because of her disability. Or a child is being kept out of school.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5 — Community life. Plain meaning: You have the right to live in your own home and your own community. No one can force you into an institution against your will. Use when: Someone is forcing a person with a disability to live in a hostel or institution they do not want to live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6 — Protection from cruelty and inhuman treatment. Plain meaning: No one can hurt you or treat you in a cruel way. The government must keep you safe. Use when: A person with a disability is being treated cruelly at home, in school, in a hospital, or in 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7 — Protection from abuse, violence and exploitation. Plain meaning: No one can hit you, hurt you, or use you for their gain. You can tell the police. They must help. You can also ask a magistrate for protection. Use when: Someone is hurting, abusing, or exploiting a person with a disability.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8 — Protection and safety. Plain meaning: The government must keep persons with disabilities safe in disasters, fires, floods, armed conflict, and other emergencies. Use when: A relief camp, shelter, or evacuation plan does not include or is not safe for persons with disabilities.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9 — Home and family. Plain meaning: Persons with disabilities have the right to a home and a family. No child can be taken from a parent only because the parent has a disability. Use when: A child welfare worker tries to take your child away because of your disability.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10 — Reproductive rights. Plain meaning: Persons with disabilities have the right to decide about marriage and children. No one can force you to have an operation that stops you from having children. Use when: A doctor, family member, or institution wants to sterilise a person with a disability without their full free consent.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11 — Accessibility in voting. Plain meaning: You have the right to vote in private. Polling stations must have ramps, easy ballots, and help if you need it. Use when: A polling station has no ramp, no Braille ballot, or no help for voters with disabilities.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12 — Access to justice. Plain meaning: You have the right to go to court. Courts must let you take part. They must give you a sign language interpreter or a support person if you need one. Use when: A court, police station, or tribunal does not let you take part because of your disability.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13 — Legal capacity. Plain meaning: You can make your own decisions. You can own things. You can run a bank account. No one can take that away because of your disability. Use when: Someone says you cannot sign a document, open a bank account, or own property because of your disability.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14 — Provision for guardianship. Plain meaning: Guardianship can only be a last step. It must be limited and end when you can decide for yourself again. You always have the right to support to make your own choices. Use when: Someone wants to put a person with a disability under full guardianship without trying support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15 — Designation of authorities to support. Plain meaning: The government must name offices that help persons with disabilities make their own decisions. Use when: (For reference. This section sets up the support system for decision-making.)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III: Education. Schools, colleges, and learning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16 — Duty of educational institutions. Plain meaning: All schools must welcome children with disabilities. Schools must give the help each child needs to learn. Use when: A school refused to take a child because of disability, or refuses to give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17 — Specific measures to promote and facilitate inclusive education. Plain meaning: The government must train teachers, make books in accessible formats, and make schools easy to enter and use. Use when: A school does not have ramps, accessible books, sign language support, or trained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18 — Adult education. Plain meaning: The government must run adult education programmes that include adults with disabilities. Use when: An adult literacy or skills programme has no place for persons with disabilities.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IV: Skill Development and Employment. Training, jobs, and fair treatment at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19 — Vocational training and self-employment. Plain meaning: The government must run job training programmes and help persons with disabilities start their own work. Use when: A skill training programme refused you, or did not have an accessible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20 — Non-discrimination in employment. Plain meaning: A government job cannot say no to you because you have a disability. You must be treated fairly at work. Use when: You did not get a job, a promotion, or a fair review because of your disability.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21 — Equal opportunity policy. Plain meaning: Every workplace with 20 or more workers must write down how they will treat workers with disabilities fairly. They must show this paper if you ask. Use when: You want to know your workplace's rules for disability support. Ask to see the equal opportunity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22 — Maintenance of records. Plain meaning: Every workplace must keep records of how many workers with disabilities they have, and what support each one needs. Use when: You ask your workplace for these records and they refuse, or they say no records are kept.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23 — Appointment of Grievance Redressal Officer. Plain meaning: Every government workplace must name an officer to handle complaints from workers with disabilities. Use when: Your workplace has no Grievance Redressal Officer, or the officer is not doing the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V: Social Security, Health, Rehabilitation and Recreation. Help to live with dignity, stay well, and take part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24 — Social security. Plain meaning: The government must help you with food, clothes, a home, and other support if you need it to live. Use when: You need a disability pension, ration card, or housing scheme but were turned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25 — Healthcare. Plain meaning: You should get free healthcare close to where you live. Healthcare must work for people with disabilities too. Use when: A government hospital or clinic refused you, charged you, or had no accessible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26 — Insurance schemes. Plain meaning: The government must run insurance schemes for persons with disabilities. Use when: An insurance company refused you because of your disability, or you cannot find any disability insurance.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27 — Rehabilitation. Plain meaning: The government must run rehabilitation programmes covering health, mind, social skills, and work. Use when: A government rehab centre is not available, is too far, or refused to take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28 — Research and development. Plain meaning: The government must support research on disability, including new tools and treatments. Use when: (For reference. This section funds research on assistive technology and disability services.)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29 — Culture and recreation. Plain meaning: Persons with disabilities have the right to take part in art, music, films, libraries, and leisure. Use when: A museum, cinema, library, or cultural event refused you or had no accessible entry.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30 — Sporting activities. Plain meaning: The government must support sports for persons with disabilities. Use when: A sports facility, training programme, or competition refused to include persons with disabilities.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VI: Special Provisions for Persons with Benchmark Disabilities. Extra rights when your disability is 40% or more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31 — Free education for children with benchmark disabilities. Plain meaning: Children with benchmark disabilities aged 6 to 18 have the right to free education in any government or government-aided school. Use when: A government school asked a child with benchmark disability to pay fees, or refused to admit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32 — Reservation in higher educational institutions. Plain meaning: Government colleges and universities must keep 5 seats out of every 100 for students with benchmark disabilities. Use when: A college denied you a reserved seat or did not have a 5% disability quota in admissions.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33 — Identification of posts for reservation. Plain meaning: The government must list out which jobs are open to persons with benchmark disabilities under the reservation. Use when: (For reference. This section is the basis for the 4% reservation in Section 34.)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34 — Reservation. Plain meaning: The government must keep 4 jobs out of every 100 for persons with benchmark disabilities. The 4% is split across categories of disability. Use when: A government office did not follow the 4% job quota, or did not let you apply under the disability category.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35 — Incentives to employers in private sector. Plain meaning: The government can give private companies incentives like grants and tax breaks if they hire workers with disabilities. Use when: (For reference. This section encourages private sector hiring of persons with disabilities.)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36 — Special employment exchange. Plain meaning: The government must set up special job centres that help persons with disabilities find work. Use when: You cannot find a special employment exchange in your district, or the one you found is not helping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37 — Special schemes and development programmes. Plain meaning: The government must run schemes that help persons with benchmark disabilities live, study, and work. Use when: (For reference. This section is the basis for many disability welfare schemes.)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VII: Persons with Disabilities with High Support Needs. Extra support for those who need it most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38 — Special provisions for persons with disabilities with high support. Plain meaning: Persons with disabilities who need a lot of support get extra help. They have the right to ask for support, and the help must be reviewed often. Use when: A person needs daily personal support but is not getting it from any government scheme.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VIII: Duties and Responsibilities of Appropriate Governments. Awareness, accessibility, and what governments must build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39 — Awareness campaigns. Plain meaning: The government must run programmes to teach people about disability rights and accessibility. Use when: (For reference. This section requires public awareness of the Act.)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40 — Accessibility. Plain meaning: Buildings, places, transport, and information must be made easy to use for everyone, including persons with disabilities. Use when: A public building has no ramp, no lift, no accessible toilet, or no clear signs.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41 — Access to transport. Plain meaning: Buses, trains, stations, and airports must have ramps, accessible signs, and trained staff to help. Use when: A bus, train, or station did not let you board, had no ramp or lift, or had no accessible toilet.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42 — Access to information and communication technology. Plain meaning: Websites, apps, TV, and phones must work for people with disabilities. Books, forms, and notices must come in accessible formats too. Use when: A government website, app, TV news, or printed form is not accessible to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43 — Consumer goods. Plain meaning: Things sold in shops — like phones, TVs, and household goods — should be made so that persons with disabilities can use them. Use when: A product you bought is not usable because of your disability and the maker did not provide an accessible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44 — Mandatory observance of accessibility norms. Plain meaning: No new building, transport, or service can get a permit unless it follows the accessibility rules. Use when: A new building or service has been approved but does not meet the accessibility standards.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45 — Time limit for making existing infrastructure and premises accessible and action for that purpose. Plain meaning: Old buildings and services must be made accessible within five years. This is the law, not a request. Use when: A public building or service is still inaccessible long after the law required it to be fixed.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46 — Time limit for accessibility by service providers. Plain meaning: Service providers — like banks, hospitals, and shops — must make their services accessible within a fixed time set by the government. Use when: A service provider has not made its service accessible within the time the government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47 — Human resource development. Plain meaning: The government must train enough teachers, doctors, and other staff to support persons with disabilities. Use when: There are no trained special educators, sign language interpreters, or rehab workers in your 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48 — Social audit. Plain meaning: The government must check, at least every five years, if the schemes for persons with disabilities are working — and persons with disabilities themselves should be part of that check. Use when: A scheme is not being audited, or persons with disabilities were not part of the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IX: Registration of Disability Institutions. Rules for organisations that work with persons with disabilities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49 — Competent authority. Plain meaning: The government must name the office that handles registration of organisations working with persons with disabilities. Use when: (For reference. This sets up the registration system for disability organisations.)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50 — Registration. Plain meaning: Any institution that wants to work with persons with disabilities must be registered. Without registration, they cannot legally provide services. Use when: An institution is offering disability services without being registered.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51 — Application and grant of certificate of registration. Plain meaning: An institution must apply for a registration certificate. The competent authority gives the certificate after checking that the rules are met. Use when: Your application for a registration certificate is taking too long, or was unfairly refused.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52 — Revocation of registration. Plain meaning: If a registered institution breaks the rules or harms persons with disabilities, its registration can be cancelled. Use when: A registered institution is treating persons with disabilities badly. You can ask the authority to cancel its registration.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53 — Appeal. Plain meaning: If your registration is refused or cancelled, you have the right to appeal to a higher authority. Use when: Your institution's registration was refused or cancelled and you want to challenge that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54 — Act not to apply to institutions established or maintained by Central or State Government. Plain meaning: Government-run institutions for persons with disabilities do not need to register under this chapter — different rules apply to them. Use when: (For reference. Government institutions are exempt from this registration requirement.)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55 — Assistance to registered institutions. Plain meaning: The government can give grants and other help to registered organisations that serve persons with disabilities. Use when: (For reference. This section is the basis for funding disability organisations.)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X: Certification of Specified Disabilities. How to assess and certify a disability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56 — Guidelines for assessment of specified disabilities. Plain meaning: The government must publish clear guidelines on how to assess each of the 21 specified disabilities. Use when: (For reference. The assessment guidelines are issued by the central government.)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57 — Designation of certifying authorities. Plain meaning: The government must name the doctors and offices that can issue a disability certificate. Use when: (For reference. This sets up the disability certification system.)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58 — Procedure for certification. Plain meaning: There must be a clear, fair process to get a disability certificate. The certificate is valid all over India. Use when: A doctor or office is making the certificate process hard, slow, or unclear.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59 — Appeal against a decision of certifying authority. Plain meaning: If you are refused a disability certificate or get the wrong one, you can appeal. Use when: Your application for a disability certificate was refused, or the percentage was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XI: Advisory Boards on Disability. Central, state, and district advisory bodies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60 — Constitution of Central Advisory Board on Disability. Plain meaning: The central government must set up a Central Advisory Board on Disability to advise on disability matters. Use when: (For reference. This sets up the national disability advisory body.)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61 — Terms and conditions of service of members. Plain meaning: The rules say how Central Advisory Board members are paid and how long they serve. Use when: (For reference. Administrative rule for Central Advisory Board members.)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62 — Disqualifications. Plain meaning: Some people cannot be members of the Central Advisory Board — for example, people convicted of serious crimes. Use when: (For reference. Lists who cannot be a Central Advisory Board member.)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63 — Vacation of seats by Members. Plain meaning: If a Central Advisory Board member misses too many meetings or breaks the rules, they lose their seat. Use when: (For reference. Administrative rule for Central Advisory Board.)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64 — Meetings of the Central Advisory Board on disability. Plain meaning: The Central Advisory Board must meet at least once every six months. Use when: (For reference. The Central Advisory Board has not met in over six months.)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65 — Functions of Central Advisory Board on disability. Plain meaning: The Central Advisory Board advises the central government on disability rules, schemes, and reports. Use when: (For reference. Lists what the Central Advisory Board does.)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66 — State Advisory Board on disability. Plain meaning: Every state must set up its own State Advisory Board on Disability. Use when: Your state does not have a State Advisory Board on Disability.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67 — Terms and conditions of service of Members. Plain meaning: Rules for State Advisory Board members — pay, term, and conditions. Use when: (For reference. Administrative rule for State Advisory Board members.)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68 — Disqualification. Plain meaning: Same kind of rules as the Central Board: who cannot be a State Advisory Board member. Use when: (For reference. Administrative rule for State Advisory Board.)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69 — Vacation of seats. Plain meaning: When a State Advisory Board member loses their seat — missed meetings, broken rules, etc. Use when: (For reference. Administrative rule for State Advisory Board.)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70 — Meetings of State Advisory Board on disability. Plain meaning: The State Advisory Board must meet at least once every six months. Use when: Your State Advisory Board has not met in over six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71 — Functions of State Advisory Board on disability. Plain meaning: The State Advisory Board advises the state government on disability rules, schemes, and reports. Use when: (For reference. Lists what the State Advisory Board does.)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72 — District-level Committee on disability. Plain meaning: Every district must have a committee that handles disability matters at the district level. Use when: Your district has no disability committee, or the committee is not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73 — Vacancies not to invalidate proceedings. Plain meaning: Even if some seats on the Boards or committees are empty, their decisions are still valid. Use when: (For reference. Administrative rule.)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XII: Chief Commissioner and State Commissioners. The offices that handle your complaints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74 — Appointment of Chief Commissioner and Commissioners. Plain meaning: The central government appoints a Chief Commissioner for Persons with Disabilities and two Commissioners under the Chief Commissioner. Use when: (For reference. This sets up the national disability complaints office.)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75 — Functions of Chief Commissioner. Plain meaning: The Chief Commissioner watches over how the Act is being followed across India and takes action when rights are broken. Use when: (For reference. The Chief Commissioner is who you escalate to after the State Commissioner.)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76 — Action of appropriate authorities on recommendation of Chief Commissioner. Plain meaning: When the Chief Commissioner makes a recommendation, the government office must act on it within a fixed time and report back. Use when: The Chief Commissioner gave a recommendation and the office did not act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77 — Powers of Chief Commissioner. Plain meaning: The Chief Commissioner can call witnesses, ask for documents, and act like a civil court when looking into a complaint. Use when: You filed a complaint with the Chief Commissioner and they have not used their powers.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78 — Annual and special reports by Chief Commissioner. Plain meaning: The Chief Commissioner must publish a yearly report. The report goes to Parliament. Use when: The Chief Commissioner has not published a yearly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79 — Appointment of State Commissioner in States. Plain meaning: Every state must appoint a State Commissioner for Persons with Disabilities. Use when: Your state does not have a State Commissioner for Persons with Disabilities.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80 — Functions of State Commissioner. Plain meaning: The State Commissioner handles complaints in the state and watches over the Act in the state. Use when: Use the State Commissioner as your first stop for complaints inside your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81 — Action by appropriate authorities on recommendation of State Commissioner. Plain meaning: When the State Commissioner makes a recommendation, the office must act on it and report back within a fixed time. Use when: The State Commissioner gave a recommendation and the office did not act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82 — Powers of State Commissioner. Plain meaning: The State Commissioner can call witnesses, ask for documents, and act like a civil court when looking into a complaint. Use when: You filed a complaint and the State Commissioner has not used their powers.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83 — Annual and special reports by State Commissioner. Plain meaning: The State Commissioner must publish a yearly report. The report goes to the state government. Use when: The State Commissioner in your state has not published a yearly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XIII: Special Court. Where serious cases under this Act are heard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84 — Special Court. Plain meaning: Each state must have a Special Court to handle serious offences against persons with disabilities under this Act. Use when: A serious case under this Act is not being heard in a Special Court.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85 — Special Public Prosecutor. Plain meaning: Each Special Court must have a Special Public Prosecutor to argue the case for the victim. Use when: A case is being heard in the Special Court without a Special Public Prosecutor.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XIV: National Fund for Persons with Disabilities. The national pot of money that pays for support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86 — National Fund for persons with disabilities. Plain meaning: There is a National Fund for Persons with Disabilities. The Fund pays for schemes, support, and grants. Use when: (For reference. The Fund pays for many disability programmes.)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87 — Accounts and audit. Plain meaning: The National Fund must keep clear accounts. The accounts must be audited every year. Use when: (For reference. Audit rule for the National Fund.)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XV: State Fund for Persons with Disabilities. Each state's own disability fund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88 — State Fund for persons with disabilities. Plain meaning: Every state must set up a State Fund for Persons with Disabilities, like the National Fund. Use when: Your state has no State Fund, or the State Fund is not being used for persons with disabilities.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XVI: Offences and Penalties. If someone breaks these rules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89 — Punishment for contravention of provisions of Act or rules or regulations made thereunder. Plain meaning: If anyone breaks the rules of this Act, they can be fined. The first time: up to Rs 10,000. The next time: Rs 50,000 to Rs 5 lakh. Use when: Someone or some office is breaking the rules of this Act and you want them to be punished.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90 — Offences by companies. Plain meaning: If a company breaks the rules of this Act, the people running the company can also be punished. Use when: A company has broken the rules and you want the managers to be held responsible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91 — Punishment for fraudulently availing any benefit meant for persons with benchmark disabilities. Plain meaning: If a person fakes a disability to get benefits meant for persons with benchmark disabilities, they can be jailed for up to 2 years and fined up to Rs 1 lakh. Use when: Someone is faking a disability certificate to get a job, seat, or benefit reserved for persons with disabilities.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92 — Punishment for offences of atrocities. Plain meaning: If someone insults you, hurts you, or humiliates you because of your disability, they can go to jail for 6 months to 5 years. Use when: Someone publicly insults, beats, denies food, or sexually abuses a person with a disability because of their disability.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93 — Punishment for failure to furnish information. Plain meaning: If anyone refuses to give information that the Chief Commissioner or State Commissioner asks for, they can be fined. Use when: An office refused to send information to the Chief Commissioner or State Commissioner.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94 — Previous sanction of appropriate Government. Plain meaning: Some cases under this Act need permission from the government before they can be filed in court. Use when: (For reference. Procedural rule for filing certain cases.)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95 — Alternative punishments. Plain meaning: The court can give other punishments — like community service or training — instead of fine or jail in some cases. Use when: (For reference. Court has flexibility on punishment in some cases.)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XVII: Miscellaneous. The closing rules of the 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96 — Application of other laws not barred. Plain meaning: This Act does not stop you from using other laws too. You can use this Act and other laws together. Use when: (For reference. You can use multiple legal protections at once.)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97 — Protection of action taken in good faith. Plain meaning: Government officers and others cannot be sued for actions they take honestly under this Act. Use when: (For reference. Protects officers acting in good faith.)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98 — Power to remove difficulties. Plain meaning: If something in this Act is unclear or hard to do, the central government can issue an order to fix it within three years of the Act starting. Use when: (For reference. Allows the central government to issue clarifications.)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99 — Power to amend Schedule. Plain meaning: The central government can change the list of 21 specified disabilities — add, remove, or change them. Use when: (For reference. The list of disabilities can be updated by the central government.)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100 — Power of Central Government to make rules. Plain meaning: The central government can make rules to put this Act into action. Use when: (For reference. Many parts of the Act work through rules made under Section 100.)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101 — Power of State Government to make rules. Plain meaning: Each state government can make its own rules to put this Act into action in the state. Use when: (For reference. State governments make their own rules under Section 101.)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102 — Repeal and savings. Plain meaning: This Act replaces the older 1995 Persons with Disabilities Act, but actions already taken under the old Act are still valid. Use when: (For reference. The 1995 PWD Act is repealed and replaced by this 2016 Act.)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How to file a complaint: 5 steps from writing it down to escalating to the Chief Commissioner if no response in 60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Who can help you: State Commissioner, Chief Commissioner, NHRC, and Disabled People's Organisations. Four main avenues for raising a disability rights complaint in India.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Your rights in one page. Eight-line summary of the most-cited sections. Closing reminder: always write the Section number when raising a complaint.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Back cover. Nothing about us without us. Capacity not dependency. All 102 sections. April 2026. Prepared for the Document Equity Initiative, EquitableDocs. Supported by Vidyasagar.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5847" cy="50292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502920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12801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5800" b="1" i="0">
                <a:solidFill>
                  <a:srgbClr val="007CB0"/>
                </a:solidFill>
                <a:latin typeface="Verdana"/>
              </a:rPr>
              <a:t>The RPwD Act 2016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10972800" cy="7315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1">
                <a:solidFill>
                  <a:srgbClr val="C85C90"/>
                </a:solidFill>
                <a:latin typeface="Verdana"/>
              </a:rPr>
              <a:t>Easy Read Guide  ·  All 102 Sections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246120"/>
            <a:ext cx="10972800" cy="548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520440"/>
            <a:ext cx="10972800" cy="6400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Verdana"/>
              </a:rPr>
              <a:t>Your rights, in plain words — with the law still attached.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1097280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700" b="0" i="1">
                <a:solidFill>
                  <a:srgbClr val="555555"/>
                </a:solidFill>
                <a:latin typeface="Verdana"/>
              </a:rPr>
              <a:t>A complete reference for persons with intellectual and learning disabilities.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09160"/>
            <a:ext cx="1097280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Verdana"/>
              </a:rPr>
              <a:t>Section titles verified against the official RPwD Act 2016 (Ministry of Law and Justice).</a:t>
            </a:r>
          </a:p>
        </p:txBody>
      </p:sp>
      <p:pic>
        <p:nvPicPr>
          <p:cNvPr id="10" name="Picture 9" descr="vidyasaga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5944" y="5440680"/>
            <a:ext cx="750832" cy="685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966960" y="6126480"/>
            <a:ext cx="18288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Verdana"/>
              </a:rPr>
              <a:t>vidyasagar.co.in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46520"/>
            <a:ext cx="12191695" cy="137160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7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 of 127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Verdana"/>
              </a:rPr>
              <a:t>About this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A1A1A"/>
                </a:solidFill>
                <a:latin typeface="Verdana"/>
              </a:rPr>
              <a:t>•  This guide explains all 102 sections of India's Rights of Persons with Disabilities Act 2016.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A1A1A"/>
                </a:solidFill>
                <a:latin typeface="Verdana"/>
              </a:rPr>
              <a:t>•  It is written in plain words for people who find legal language hard.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A1A1A"/>
                </a:solidFill>
                <a:latin typeface="Verdana"/>
              </a:rPr>
              <a:t>•  Every page keeps the official Section number and title from the Act. The plain words sit below.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A1A1A"/>
                </a:solidFill>
                <a:latin typeface="Verdana"/>
              </a:rPr>
              <a:t>•  Some sections give you rights you can claim. Others explain how the system works — those say “For reference” in the Use this when box.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A1A1A"/>
                </a:solidFill>
                <a:latin typeface="Verdana"/>
              </a:rPr>
              <a:t>•  Each chapter has its own colour, so you can tell at a glance which chapter you are in.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A1A1A"/>
                </a:solidFill>
                <a:latin typeface="Verdana"/>
              </a:rPr>
              <a:t>•  Section titles in this guide were verified against the official Act text from the Ministry of Law and Justice.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A1A1A"/>
                </a:solidFill>
                <a:latin typeface="Verdana"/>
              </a:rPr>
              <a:t>•  This guide is not legal advice. For court matters, please ask a lawyer or your State Commissioner.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440680"/>
            <a:ext cx="11247120" cy="914400"/>
          </a:xfrm>
          <a:prstGeom prst="roundRect">
            <a:avLst>
              <a:gd name="adj" fmla="val 20000"/>
            </a:avLst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5486400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Verdana"/>
              </a:rPr>
              <a:t>WHY THE LEGAL HEADINGS STAY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06440"/>
            <a:ext cx="1060704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Verdana"/>
              </a:rPr>
              <a:t>When you raise a complaint, citing the Section number gives your case real power. We never strip it out.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7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2 of 127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Verdana"/>
              </a:rPr>
              <a:t>How to use this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1">
                <a:solidFill>
                  <a:srgbClr val="555555"/>
                </a:solidFill>
                <a:latin typeface="Verdana"/>
              </a:rPr>
              <a:t>Every Section page in this guide has the same five parts: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868680" cy="777240"/>
          </a:xfrm>
          <a:prstGeom prst="roundRect">
            <a:avLst>
              <a:gd name="adj" fmla="val 20000"/>
            </a:avLst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868680" cy="7772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Verdana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08760" y="1554480"/>
            <a:ext cx="10241280" cy="7772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91640" y="1627632"/>
            <a:ext cx="9966960" cy="32918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1" i="0">
                <a:solidFill>
                  <a:srgbClr val="00B0F0"/>
                </a:solidFill>
                <a:latin typeface="Verdana"/>
              </a:rPr>
              <a:t>Chapter and Section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938528"/>
            <a:ext cx="996696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Verdana"/>
              </a:rPr>
              <a:t>Tells you exactly where in the Act you 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41448"/>
            <a:ext cx="868680" cy="777240"/>
          </a:xfrm>
          <a:prstGeom prst="roundRect">
            <a:avLst>
              <a:gd name="adj" fmla="val 20000"/>
            </a:avLst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441448"/>
            <a:ext cx="868680" cy="7772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Verdana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08760" y="2441448"/>
            <a:ext cx="10241280" cy="7772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F08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91640" y="2514600"/>
            <a:ext cx="9966960" cy="32918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1" i="0">
                <a:solidFill>
                  <a:srgbClr val="F080B0"/>
                </a:solidFill>
                <a:latin typeface="Verdana"/>
              </a:rPr>
              <a:t>Official Section title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825496"/>
            <a:ext cx="996696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Verdana"/>
              </a:rPr>
              <a:t>The exact name from the Act. Use this in complaints.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28416"/>
            <a:ext cx="868680" cy="777240"/>
          </a:xfrm>
          <a:prstGeom prst="roundRect">
            <a:avLst>
              <a:gd name="adj" fmla="val 20000"/>
            </a:avLst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3328416"/>
            <a:ext cx="868680" cy="7772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Verdana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08760" y="3328416"/>
            <a:ext cx="10241280" cy="7772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91640" y="3401568"/>
            <a:ext cx="9966960" cy="32918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1" i="0">
                <a:solidFill>
                  <a:srgbClr val="00B0F0"/>
                </a:solidFill>
                <a:latin typeface="Verdana"/>
              </a:rPr>
              <a:t>Picture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712464"/>
            <a:ext cx="996696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Verdana"/>
              </a:rPr>
              <a:t>A simple drawing to help you remember the idea.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15384"/>
            <a:ext cx="868680" cy="777240"/>
          </a:xfrm>
          <a:prstGeom prst="roundRect">
            <a:avLst>
              <a:gd name="adj" fmla="val 20000"/>
            </a:avLst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4215384"/>
            <a:ext cx="868680" cy="7772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Verdana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08760" y="4215384"/>
            <a:ext cx="10241280" cy="7772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F08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691640" y="4288536"/>
            <a:ext cx="9966960" cy="32918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1" i="0">
                <a:solidFill>
                  <a:srgbClr val="F080B0"/>
                </a:solidFill>
                <a:latin typeface="Verdana"/>
              </a:rPr>
              <a:t>Plain words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599432"/>
            <a:ext cx="996696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Verdana"/>
              </a:rPr>
              <a:t>The same idea in easy English.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102352"/>
            <a:ext cx="868680" cy="777240"/>
          </a:xfrm>
          <a:prstGeom prst="roundRect">
            <a:avLst>
              <a:gd name="adj" fmla="val 20000"/>
            </a:avLst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102352"/>
            <a:ext cx="868680" cy="7772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Verdana"/>
              </a:rP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508760" y="5102352"/>
            <a:ext cx="10241280" cy="7772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691640" y="5175504"/>
            <a:ext cx="9966960" cy="32918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1" i="0">
                <a:solidFill>
                  <a:srgbClr val="00B0F0"/>
                </a:solidFill>
                <a:latin typeface="Verdana"/>
              </a:rPr>
              <a:t>Use this when…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5486400"/>
            <a:ext cx="996696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Verdana"/>
              </a:rPr>
              <a:t>Real-life examples of when this section helps you.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7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3 of 127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Verdana"/>
              </a:rPr>
              <a:t>Map of your rights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Verdana"/>
              </a:rPr>
              <a:t>All 17 chapters and 102 sections — each chapter has its own colour: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960120" cy="384048"/>
          </a:xfrm>
          <a:prstGeom prst="roundRect">
            <a:avLst>
              <a:gd name="adj" fmla="val 20000"/>
            </a:avLst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96012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Verdana"/>
              </a:rPr>
              <a:t>CH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7048" y="1325880"/>
            <a:ext cx="320040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Verdana"/>
              </a:rPr>
              <a:t>The basics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27448" y="1325880"/>
            <a:ext cx="132588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1" i="1">
                <a:solidFill>
                  <a:srgbClr val="00ACC1"/>
                </a:solidFill>
                <a:latin typeface="Verdana"/>
              </a:rPr>
              <a:t>1, 2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64792"/>
            <a:ext cx="960120" cy="384048"/>
          </a:xfrm>
          <a:prstGeom prst="roundRect">
            <a:avLst>
              <a:gd name="adj" fmla="val 20000"/>
            </a:avLst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764792"/>
            <a:ext cx="96012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Verdana"/>
              </a:rPr>
              <a:t>CH 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1764792"/>
            <a:ext cx="320040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Verdana"/>
              </a:rPr>
              <a:t>Your rights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1764792"/>
            <a:ext cx="132588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1" i="1">
                <a:solidFill>
                  <a:srgbClr val="C2185B"/>
                </a:solidFill>
                <a:latin typeface="Verdana"/>
              </a:rPr>
              <a:t>3 – 15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203704"/>
            <a:ext cx="960120" cy="384048"/>
          </a:xfrm>
          <a:prstGeom prst="roundRect">
            <a:avLst>
              <a:gd name="adj" fmla="val 20000"/>
            </a:avLst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203704"/>
            <a:ext cx="96012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Verdana"/>
              </a:rPr>
              <a:t>CH III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2203704"/>
            <a:ext cx="320040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Verdana"/>
              </a:rPr>
              <a:t>Education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203704"/>
            <a:ext cx="132588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1" i="1">
                <a:solidFill>
                  <a:srgbClr val="F57C00"/>
                </a:solidFill>
                <a:latin typeface="Verdana"/>
              </a:rPr>
              <a:t>16 – 18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642616"/>
            <a:ext cx="960120" cy="384048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642616"/>
            <a:ext cx="96012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Verdana"/>
              </a:rPr>
              <a:t>CH IV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7048" y="2642616"/>
            <a:ext cx="320040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Verdana"/>
              </a:rPr>
              <a:t>Skill and 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7448" y="2642616"/>
            <a:ext cx="132588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1" i="1">
                <a:solidFill>
                  <a:srgbClr val="2E7D32"/>
                </a:solidFill>
                <a:latin typeface="Verdana"/>
              </a:rPr>
              <a:t>19 – 23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081528"/>
            <a:ext cx="960120" cy="384048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081528"/>
            <a:ext cx="96012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Verdana"/>
              </a:rPr>
              <a:t>CH 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7048" y="3081528"/>
            <a:ext cx="320040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Verdana"/>
              </a:rPr>
              <a:t>Health and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27448" y="3081528"/>
            <a:ext cx="132588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1" i="1">
                <a:solidFill>
                  <a:srgbClr val="C62828"/>
                </a:solidFill>
                <a:latin typeface="Verdana"/>
              </a:rPr>
              <a:t>24 – 30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520440"/>
            <a:ext cx="960120" cy="384048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3520440"/>
            <a:ext cx="96012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Verdana"/>
              </a:rPr>
              <a:t>CH VI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3520440"/>
            <a:ext cx="320040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Verdana"/>
              </a:rPr>
              <a:t>Benchmark disabilities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27448" y="3520440"/>
            <a:ext cx="132588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1" i="1">
                <a:solidFill>
                  <a:srgbClr val="6A1B9A"/>
                </a:solidFill>
                <a:latin typeface="Verdana"/>
              </a:rPr>
              <a:t>31 – 37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959352"/>
            <a:ext cx="960120" cy="384048"/>
          </a:xfrm>
          <a:prstGeom prst="roundRect">
            <a:avLst>
              <a:gd name="adj" fmla="val 20000"/>
            </a:avLst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3959352"/>
            <a:ext cx="96012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Verdana"/>
              </a:rPr>
              <a:t>CH VII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7048" y="3959352"/>
            <a:ext cx="320040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Verdana"/>
              </a:rPr>
              <a:t>High support needs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27448" y="3959352"/>
            <a:ext cx="132588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1" i="1">
                <a:solidFill>
                  <a:srgbClr val="00897B"/>
                </a:solidFill>
                <a:latin typeface="Verdana"/>
              </a:rPr>
              <a:t>38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398264"/>
            <a:ext cx="960120" cy="384048"/>
          </a:xfrm>
          <a:prstGeom prst="roundRect">
            <a:avLst>
              <a:gd name="adj" fmla="val 20000"/>
            </a:avLst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4398264"/>
            <a:ext cx="96012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Verdana"/>
              </a:rPr>
              <a:t>CH VIII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4398264"/>
            <a:ext cx="320040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Verdana"/>
              </a:rPr>
              <a:t>Government duties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27448" y="4398264"/>
            <a:ext cx="132588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1" i="1">
                <a:solidFill>
                  <a:srgbClr val="283593"/>
                </a:solidFill>
                <a:latin typeface="Verdana"/>
              </a:rPr>
              <a:t>39 – 48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837176"/>
            <a:ext cx="960120" cy="384048"/>
          </a:xfrm>
          <a:prstGeom prst="roundRect">
            <a:avLst>
              <a:gd name="adj" fmla="val 20000"/>
            </a:avLst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4837176"/>
            <a:ext cx="96012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Verdana"/>
              </a:rPr>
              <a:t>CH IX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7048" y="4837176"/>
            <a:ext cx="320040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Verdana"/>
              </a:rPr>
              <a:t>Disability institutions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27448" y="4837176"/>
            <a:ext cx="132588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1" i="1">
                <a:solidFill>
                  <a:srgbClr val="5D4037"/>
                </a:solidFill>
                <a:latin typeface="Verdana"/>
              </a:rPr>
              <a:t>49 – 55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1325880"/>
            <a:ext cx="960120" cy="384048"/>
          </a:xfrm>
          <a:prstGeom prst="roundRect">
            <a:avLst>
              <a:gd name="adj" fmla="val 20000"/>
            </a:avLst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63640" y="1325880"/>
            <a:ext cx="96012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Verdana"/>
              </a:rPr>
              <a:t>CH 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33488" y="1325880"/>
            <a:ext cx="320040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Verdana"/>
              </a:rPr>
              <a:t>Certification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33888" y="1325880"/>
            <a:ext cx="132588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1" i="1">
                <a:solidFill>
                  <a:srgbClr val="00838F"/>
                </a:solidFill>
                <a:latin typeface="Verdana"/>
              </a:rPr>
              <a:t>56 – 59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63640" y="1764792"/>
            <a:ext cx="960120" cy="384048"/>
          </a:xfrm>
          <a:prstGeom prst="roundRect">
            <a:avLst>
              <a:gd name="adj" fmla="val 20000"/>
            </a:avLst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63640" y="1764792"/>
            <a:ext cx="96012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Verdana"/>
              </a:rPr>
              <a:t>CH XI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33488" y="1764792"/>
            <a:ext cx="320040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Verdana"/>
              </a:rPr>
              <a:t>Advisory boards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33888" y="1764792"/>
            <a:ext cx="132588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1" i="1">
                <a:solidFill>
                  <a:srgbClr val="512DA8"/>
                </a:solidFill>
                <a:latin typeface="Verdana"/>
              </a:rPr>
              <a:t>60 – 73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63640" y="2203704"/>
            <a:ext cx="960120" cy="384048"/>
          </a:xfrm>
          <a:prstGeom prst="roundRect">
            <a:avLst>
              <a:gd name="adj" fmla="val 20000"/>
            </a:avLst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63640" y="2203704"/>
            <a:ext cx="96012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Verdana"/>
              </a:rPr>
              <a:t>CH XII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33488" y="2203704"/>
            <a:ext cx="320040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Verdana"/>
              </a:rPr>
              <a:t>Commissioners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33888" y="2203704"/>
            <a:ext cx="132588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1" i="1">
                <a:solidFill>
                  <a:srgbClr val="689F38"/>
                </a:solidFill>
                <a:latin typeface="Verdana"/>
              </a:rPr>
              <a:t>74 – 83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63640" y="2642616"/>
            <a:ext cx="960120" cy="384048"/>
          </a:xfrm>
          <a:prstGeom prst="roundRect">
            <a:avLst>
              <a:gd name="adj" fmla="val 20000"/>
            </a:avLst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63640" y="2642616"/>
            <a:ext cx="96012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Verdana"/>
              </a:rPr>
              <a:t>CH XIII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33488" y="2642616"/>
            <a:ext cx="320040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Verdana"/>
              </a:rPr>
              <a:t>Special Court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33888" y="2642616"/>
            <a:ext cx="132588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1" i="1">
                <a:solidFill>
                  <a:srgbClr val="BF360C"/>
                </a:solidFill>
                <a:latin typeface="Verdana"/>
              </a:rPr>
              <a:t>84, 85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63640" y="3081528"/>
            <a:ext cx="960120" cy="384048"/>
          </a:xfrm>
          <a:prstGeom prst="roundRect">
            <a:avLst>
              <a:gd name="adj" fmla="val 20000"/>
            </a:avLst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263640" y="3081528"/>
            <a:ext cx="96012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Verdana"/>
              </a:rPr>
              <a:t>CH XIV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33488" y="3081528"/>
            <a:ext cx="320040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Verdana"/>
              </a:rPr>
              <a:t>National Fund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33888" y="3081528"/>
            <a:ext cx="132588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1" i="1">
                <a:solidFill>
                  <a:srgbClr val="455A64"/>
                </a:solidFill>
                <a:latin typeface="Verdana"/>
              </a:rPr>
              <a:t>86, 87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63640" y="3520440"/>
            <a:ext cx="960120" cy="384048"/>
          </a:xfrm>
          <a:prstGeom prst="roundRect">
            <a:avLst>
              <a:gd name="adj" fmla="val 20000"/>
            </a:avLst>
          </a:prstGeom>
          <a:solidFill>
            <a:srgbClr val="4E3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263640" y="3520440"/>
            <a:ext cx="96012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Verdana"/>
              </a:rPr>
              <a:t>CH XV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33488" y="3520440"/>
            <a:ext cx="320040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Verdana"/>
              </a:rPr>
              <a:t>State Fund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33888" y="3520440"/>
            <a:ext cx="132588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1" i="1">
                <a:solidFill>
                  <a:srgbClr val="4E342E"/>
                </a:solidFill>
                <a:latin typeface="Verdana"/>
              </a:rPr>
              <a:t>88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263640" y="3959352"/>
            <a:ext cx="960120" cy="384048"/>
          </a:xfrm>
          <a:prstGeom prst="roundRect">
            <a:avLst>
              <a:gd name="adj" fmla="val 20000"/>
            </a:avLst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263640" y="3959352"/>
            <a:ext cx="96012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Verdana"/>
              </a:rPr>
              <a:t>CH XVI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33488" y="3959352"/>
            <a:ext cx="320040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Verdana"/>
              </a:rPr>
              <a:t>Penalties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33888" y="3959352"/>
            <a:ext cx="132588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1" i="1">
                <a:solidFill>
                  <a:srgbClr val="B71C1C"/>
                </a:solidFill>
                <a:latin typeface="Verdana"/>
              </a:rPr>
              <a:t>89 – 95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263640" y="4398264"/>
            <a:ext cx="960120" cy="384048"/>
          </a:xfrm>
          <a:prstGeom prst="roundRect">
            <a:avLst>
              <a:gd name="adj" fmla="val 2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263640" y="4398264"/>
            <a:ext cx="96012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Verdana"/>
              </a:rPr>
              <a:t>CH XVII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33488" y="4398264"/>
            <a:ext cx="320040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Verdana"/>
              </a:rPr>
              <a:t>Miscellaneous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33888" y="4398264"/>
            <a:ext cx="132588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1" i="1">
                <a:solidFill>
                  <a:srgbClr val="424242"/>
                </a:solidFill>
                <a:latin typeface="Verdana"/>
              </a:rPr>
              <a:t>96 – 102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400" b="0" i="1">
                <a:solidFill>
                  <a:srgbClr val="555555"/>
                </a:solidFill>
                <a:latin typeface="Verdana"/>
              </a:rPr>
              <a:t>Plus: How to file a complaint  ·  Who can help you  ·  Your rights in one page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7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4 of 127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AC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Verdana"/>
              </a:rPr>
              <a:t>CHAPTER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1554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Verdana"/>
              </a:rPr>
              <a:t>Preliminary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  <a:latin typeface="Verdana"/>
              </a:rPr>
              <a:t>The basics: who is covered and what the words mean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28232"/>
            <a:ext cx="12191695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5 of 127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  ·  THE BASICS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0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00ACC1"/>
                </a:solidFill>
                <a:latin typeface="Verdana"/>
              </a:rPr>
              <a:t>1</a:t>
            </a:r>
          </a:p>
        </p:txBody>
      </p:sp>
      <p:pic>
        <p:nvPicPr>
          <p:cNvPr id="6" name="Picture 5" descr="book_si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00ACC1"/>
                </a:solidFill>
                <a:latin typeface="Verdana"/>
              </a:rPr>
              <a:t>Section 1 — Short title and commencement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This section gives the Act its name and tells when it started. The Act began on 19 April 2017 and applies to all of India.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This section is the Act's name plate.)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6 of 127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  ·  THE BASICS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0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00ACC1"/>
                </a:solidFill>
                <a:latin typeface="Verdana"/>
              </a:rPr>
              <a:t>2</a:t>
            </a:r>
          </a:p>
        </p:txBody>
      </p:sp>
      <p:pic>
        <p:nvPicPr>
          <p:cNvPr id="6" name="Picture 5" descr="book_si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00ACC1"/>
                </a:solidFill>
                <a:latin typeface="Verdana"/>
              </a:rPr>
              <a:t>Section 2 — Definitions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Act lists 21 disabilities. If you have one of them, you are covered. If your disability is 40% or more, you are called a person with benchmark disability — you get extra rights.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You are not sure if the Act covers you, or whether you have a benchmark disability. Look at the list of 21 disabilities and the 40% rule.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7 of 127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18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Verdana"/>
              </a:rPr>
              <a:t>CHAPTER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1554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Verdana"/>
              </a:rPr>
              <a:t>Rights and Entitlements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  <a:latin typeface="Verdana"/>
              </a:rPr>
              <a:t>What you can claim, and what is wrong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28232"/>
            <a:ext cx="12191695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8 of 127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II  ·  YOUR RIGHTS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C2185B"/>
                </a:solidFill>
                <a:latin typeface="Verdana"/>
              </a:rPr>
              <a:t>3</a:t>
            </a:r>
          </a:p>
        </p:txBody>
      </p:sp>
      <p:pic>
        <p:nvPicPr>
          <p:cNvPr id="6" name="Picture 5" descr="equ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C2185B"/>
                </a:solidFill>
                <a:latin typeface="Verdana"/>
              </a:rPr>
              <a:t>Section 3 — Equality and non-discrimination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You have the right to be treated equally. No one can treat you badly because you have a disability.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Someone refused you a service, a job, or a place because of your disability. Cite Section 3 in your complaint.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9 of 127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II  ·  YOUR RIGHTS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C2185B"/>
                </a:solidFill>
                <a:latin typeface="Verdana"/>
              </a:rPr>
              <a:t>4</a:t>
            </a:r>
          </a:p>
        </p:txBody>
      </p:sp>
      <p:pic>
        <p:nvPicPr>
          <p:cNvPr id="6" name="Picture 5" descr="women_childr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C2185B"/>
                </a:solidFill>
                <a:latin typeface="Verdana"/>
              </a:rPr>
              <a:t>Section 4 — Women and children with disabilities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Women and children with disabilities have the same rights as everyone else. The government must protect them from extra harm.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girl or woman is denied school, work, or safety because of her disability. Or a child is being kept out of school.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10 of 127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II  ·  YOUR RIGHTS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C2185B"/>
                </a:solidFill>
                <a:latin typeface="Verdana"/>
              </a:rPr>
              <a:t>5</a:t>
            </a:r>
          </a:p>
        </p:txBody>
      </p:sp>
      <p:pic>
        <p:nvPicPr>
          <p:cNvPr id="6" name="Picture 5" descr="house_fam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C2185B"/>
                </a:solidFill>
                <a:latin typeface="Verdana"/>
              </a:rPr>
              <a:t>Section 5 — Community life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You have the right to live in your own home and your own community. No one can force you into an institution against your will.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Someone is forcing a person with a disability to live in a hostel or institution they do not want to live 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11 of 127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II  ·  YOUR RIGHTS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C2185B"/>
                </a:solidFill>
                <a:latin typeface="Verdana"/>
              </a:rPr>
              <a:t>6</a:t>
            </a:r>
          </a:p>
        </p:txBody>
      </p:sp>
      <p:pic>
        <p:nvPicPr>
          <p:cNvPr id="6" name="Picture 5" descr="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C2185B"/>
                </a:solidFill>
                <a:latin typeface="Verdana"/>
              </a:rPr>
              <a:t>Section 6 — Protection from cruelty and inhuman treatment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No one can hurt you or treat you in a cruel way. The government must keep you safe.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person with a disability is being treated cruelly at home, in school, in a hospital, or in care.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12 of 127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II  ·  YOUR RIGHTS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C2185B"/>
                </a:solidFill>
                <a:latin typeface="Verdana"/>
              </a:rPr>
              <a:t>7</a:t>
            </a:r>
          </a:p>
        </p:txBody>
      </p:sp>
      <p:pic>
        <p:nvPicPr>
          <p:cNvPr id="6" name="Picture 5" descr="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C2185B"/>
                </a:solidFill>
                <a:latin typeface="Verdana"/>
              </a:rPr>
              <a:t>Section 7 — Protection from abuse, violence and exploitation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No one can hit you, hurt you, or use you for their gain. You can tell the police. They must help. You can also ask a magistrate for protection.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Someone is hurting, abusing, or exploiting a person with a disability.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13 of 127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II  ·  YOUR RIGHTS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C2185B"/>
                </a:solidFill>
                <a:latin typeface="Verdana"/>
              </a:rPr>
              <a:t>8</a:t>
            </a:r>
          </a:p>
        </p:txBody>
      </p:sp>
      <p:pic>
        <p:nvPicPr>
          <p:cNvPr id="6" name="Picture 5" descr="disaster_sa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C2185B"/>
                </a:solidFill>
                <a:latin typeface="Verdana"/>
              </a:rPr>
              <a:t>Section 8 — Protection and safety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government must keep persons with disabilities safe in disasters, fires, floods, armed conflict, and other emergencies.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relief camp, shelter, or evacuation plan does not include or is not safe for persons with disabilities.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14 of 127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II  ·  YOUR RIGHTS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C2185B"/>
                </a:solidFill>
                <a:latin typeface="Verdana"/>
              </a:rPr>
              <a:t>9</a:t>
            </a:r>
          </a:p>
        </p:txBody>
      </p:sp>
      <p:pic>
        <p:nvPicPr>
          <p:cNvPr id="6" name="Picture 5" descr="house_fam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C2185B"/>
                </a:solidFill>
                <a:latin typeface="Verdana"/>
              </a:rPr>
              <a:t>Section 9 — Home and family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Persons with disabilities have the right to a home and a family. No child can be taken from a parent only because the parent has a disability.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child welfare worker tries to take your child away because of your disability.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15 of 127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II  ·  YOUR RIGHTS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C2185B"/>
                </a:solidFill>
                <a:latin typeface="Verdana"/>
              </a:rPr>
              <a:t>10</a:t>
            </a:r>
          </a:p>
        </p:txBody>
      </p:sp>
      <p:pic>
        <p:nvPicPr>
          <p:cNvPr id="6" name="Picture 5" descr="he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C2185B"/>
                </a:solidFill>
                <a:latin typeface="Verdana"/>
              </a:rPr>
              <a:t>Section 10 — Reproductive rights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Persons with disabilities have the right to decide about marriage and children. No one can force you to have an operation that stops you from having children.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doctor, family member, or institution wants to sterilise a person with a disability without their full free consent.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16 of 127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II  ·  YOUR RIGHTS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C2185B"/>
                </a:solidFill>
                <a:latin typeface="Verdana"/>
              </a:rPr>
              <a:t>11</a:t>
            </a:r>
          </a:p>
        </p:txBody>
      </p:sp>
      <p:pic>
        <p:nvPicPr>
          <p:cNvPr id="6" name="Picture 5" descr="vo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C2185B"/>
                </a:solidFill>
                <a:latin typeface="Verdana"/>
              </a:rPr>
              <a:t>Section 11 — Accessibility in voting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You have the right to vote in private. Polling stations must have ramps, easy ballots, and help if you need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polling station has no ramp, no Braille ballot, or no help for voters with disabilities.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17 of 127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II  ·  YOUR RIGHTS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C2185B"/>
                </a:solidFill>
                <a:latin typeface="Verdana"/>
              </a:rPr>
              <a:t>12</a:t>
            </a:r>
          </a:p>
        </p:txBody>
      </p:sp>
      <p:pic>
        <p:nvPicPr>
          <p:cNvPr id="6" name="Picture 5" descr="justice_sc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C2185B"/>
                </a:solidFill>
                <a:latin typeface="Verdana"/>
              </a:rPr>
              <a:t>Section 12 — Access to justice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You have the right to go to court. Courts must let you take part. They must give you a sign language interpreter or a support person if you need 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court, police station, or tribunal does not let you take part because of your disability.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18 of 127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II  ·  YOUR RIGHTS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C2185B"/>
                </a:solidFill>
                <a:latin typeface="Verdana"/>
              </a:rPr>
              <a:t>13</a:t>
            </a:r>
          </a:p>
        </p:txBody>
      </p:sp>
      <p:pic>
        <p:nvPicPr>
          <p:cNvPr id="6" name="Picture 5" descr="pencil_sig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C2185B"/>
                </a:solidFill>
                <a:latin typeface="Verdana"/>
              </a:rPr>
              <a:t>Section 13 — Legal capacity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You can make your own decisions. You can own things. You can run a bank account. No one can take that away because of your disability.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Someone says you cannot sign a document, open a bank account, or own property because of your disability.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19 of 127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II  ·  YOUR RIGHTS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C2185B"/>
                </a:solidFill>
                <a:latin typeface="Verdana"/>
              </a:rPr>
              <a:t>14</a:t>
            </a:r>
          </a:p>
        </p:txBody>
      </p:sp>
      <p:pic>
        <p:nvPicPr>
          <p:cNvPr id="6" name="Picture 5" descr="friends_sup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C2185B"/>
                </a:solidFill>
                <a:latin typeface="Verdana"/>
              </a:rPr>
              <a:t>Section 14 — Provision for guardianship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Guardianship can only be a last step. It must be limited and end when you can decide for yourself again. You always have the right to support to make your own choices.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Someone wants to put a person with a disability under full guardianship without trying support first.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20 of 127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II  ·  YOUR RIGHTS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C2185B"/>
                </a:solidFill>
                <a:latin typeface="Verdana"/>
              </a:rPr>
              <a:t>15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C2185B"/>
                </a:solidFill>
                <a:latin typeface="Verdana"/>
              </a:rPr>
              <a:t>Section 15 — Designation of authorities to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government must name offices that help persons with disabilities make their own decisions.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This section sets up the support system for decision-making.)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21 of 127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7C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Verdana"/>
              </a:rPr>
              <a:t>CHAPTER 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1554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Verdana"/>
              </a:rPr>
              <a:t>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  <a:latin typeface="Verdana"/>
              </a:rPr>
              <a:t>Schools, colleges, and learning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28232"/>
            <a:ext cx="12191695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22 of 127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III  ·  EDUCATION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F57C00"/>
                </a:solidFill>
                <a:latin typeface="Verdana"/>
              </a:rPr>
              <a:t>16</a:t>
            </a:r>
          </a:p>
        </p:txBody>
      </p:sp>
      <p:pic>
        <p:nvPicPr>
          <p:cNvPr id="6" name="Picture 5" descr="scho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F57C00"/>
                </a:solidFill>
                <a:latin typeface="Verdana"/>
              </a:rPr>
              <a:t>Section 16 — Duty of educational institutions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All schools must welcome children with disabilities. Schools must give the help each child needs to learn.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school refused to take a child because of disability, or refuses to give support.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23 of 127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III  ·  EDUCATION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F57C00"/>
                </a:solidFill>
                <a:latin typeface="Verdana"/>
              </a:rPr>
              <a:t>17</a:t>
            </a:r>
          </a:p>
        </p:txBody>
      </p:sp>
      <p:pic>
        <p:nvPicPr>
          <p:cNvPr id="6" name="Picture 5" descr="book_o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F57C00"/>
                </a:solidFill>
                <a:latin typeface="Verdana"/>
              </a:rPr>
              <a:t>Section 17 — Specific measures to promote and facilitate inclusive 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government must train teachers, make books in accessible formats, and make schools easy to enter and use.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school does not have ramps, accessible books, sign language support, or trained teachers.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24 of 127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III  ·  EDUCATION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F57C00"/>
                </a:solidFill>
                <a:latin typeface="Verdana"/>
              </a:rPr>
              <a:t>18</a:t>
            </a:r>
          </a:p>
        </p:txBody>
      </p:sp>
      <p:pic>
        <p:nvPicPr>
          <p:cNvPr id="6" name="Picture 5" descr="book_le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F57C00"/>
                </a:solidFill>
                <a:latin typeface="Verdana"/>
              </a:rPr>
              <a:t>Section 18 — Adult 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government must run adult education programmes that include adults with disabilities.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An adult literacy or skills programme has no place for persons with disabilities.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25 of 127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Verdana"/>
              </a:rPr>
              <a:t>CHAPTER 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1554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Verdana"/>
              </a:rPr>
              <a:t>Skill Development and Employment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  <a:latin typeface="Verdana"/>
              </a:rPr>
              <a:t>Training, jobs, and fair treatment at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28232"/>
            <a:ext cx="12191695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26 of 127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IV  ·  SKILL &amp; WORK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2E7D32"/>
                </a:solidFill>
                <a:latin typeface="Verdana"/>
              </a:rPr>
              <a:t>19</a:t>
            </a:r>
          </a:p>
        </p:txBody>
      </p:sp>
      <p:pic>
        <p:nvPicPr>
          <p:cNvPr id="6" name="Picture 5" descr="brief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2E7D32"/>
                </a:solidFill>
                <a:latin typeface="Verdana"/>
              </a:rPr>
              <a:t>Section 19 — Vocational training and self-employment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government must run job training programmes and help persons with disabilities start their own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skill training programme refused you, or did not have an accessible course.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27 of 127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IV  ·  SKILL &amp; WORK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2E7D32"/>
                </a:solidFill>
                <a:latin typeface="Verdana"/>
              </a:rPr>
              <a:t>20</a:t>
            </a:r>
          </a:p>
        </p:txBody>
      </p:sp>
      <p:pic>
        <p:nvPicPr>
          <p:cNvPr id="6" name="Picture 5" descr="brief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2E7D32"/>
                </a:solidFill>
                <a:latin typeface="Verdana"/>
              </a:rPr>
              <a:t>Section 20 — Non-discrimination in employment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A government job cannot say no to you because you have a disability. You must be treated fairly at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You did not get a job, a promotion, or a fair review because of your disability.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28 of 127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IV  ·  SKILL &amp; WORK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2E7D32"/>
                </a:solidFill>
                <a:latin typeface="Verdana"/>
              </a:rPr>
              <a:t>21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2E7D32"/>
                </a:solidFill>
                <a:latin typeface="Verdana"/>
              </a:rPr>
              <a:t>Section 21 — Equal opportunity policy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Every workplace with 20 or more workers must write down how they will treat workers with disabilities fairly. They must show this paper if you ask.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You want to know your workplace's rules for disability support. Ask to see the equal opportunity policy.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29 of 127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IV  ·  SKILL &amp; WORK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2E7D32"/>
                </a:solidFill>
                <a:latin typeface="Verdana"/>
              </a:rPr>
              <a:t>22</a:t>
            </a:r>
          </a:p>
        </p:txBody>
      </p:sp>
      <p:pic>
        <p:nvPicPr>
          <p:cNvPr id="6" name="Picture 5" descr="clipboard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2E7D32"/>
                </a:solidFill>
                <a:latin typeface="Verdana"/>
              </a:rPr>
              <a:t>Section 22 — Maintenance of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Every workplace must keep records of how many workers with disabilities they have, and what support each one needs.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You ask your workplace for these records and they refuse, or they say no records are kept.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30 of 127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IV  ·  SKILL &amp; WORK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2E7D32"/>
                </a:solidFill>
                <a:latin typeface="Verdana"/>
              </a:rPr>
              <a:t>23</a:t>
            </a:r>
          </a:p>
        </p:txBody>
      </p:sp>
      <p:pic>
        <p:nvPicPr>
          <p:cNvPr id="6" name="Picture 5" descr="committee_peo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2E7D32"/>
                </a:solidFill>
                <a:latin typeface="Verdana"/>
              </a:rPr>
              <a:t>Section 23 — Appointment of Grievance Redressal Officer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Every government workplace must name an officer to handle complaints from workers with disabilities.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Your workplace has no Grievance Redressal Officer, or the officer is not doing the job.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31 of 127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Verdana"/>
              </a:rPr>
              <a:t>CHAPTER 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1554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Verdana"/>
              </a:rPr>
              <a:t>Social Security, Health, Rehabilitation and Recreation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  <a:latin typeface="Verdana"/>
              </a:rPr>
              <a:t>Help to live with dignity, stay well, and take part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28232"/>
            <a:ext cx="12191695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32 of 127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  ·  HEALTH AND SUPPORT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C62828"/>
                </a:solidFill>
                <a:latin typeface="Verdana"/>
              </a:rPr>
              <a:t>24</a:t>
            </a:r>
          </a:p>
        </p:txBody>
      </p:sp>
      <p:pic>
        <p:nvPicPr>
          <p:cNvPr id="6" name="Picture 5" descr="money_j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C62828"/>
                </a:solidFill>
                <a:latin typeface="Verdana"/>
              </a:rPr>
              <a:t>Section 24 — Social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government must help you with food, clothes, a home, and other support if you need it to live.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You need a disability pension, ration card, or housing scheme but were turned away.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33 of 127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  ·  HEALTH AND SUPPORT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C62828"/>
                </a:solidFill>
                <a:latin typeface="Verdana"/>
              </a:rPr>
              <a:t>25</a:t>
            </a:r>
          </a:p>
        </p:txBody>
      </p:sp>
      <p:pic>
        <p:nvPicPr>
          <p:cNvPr id="6" name="Picture 5" descr="medical_cr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C62828"/>
                </a:solidFill>
                <a:latin typeface="Verdana"/>
              </a:rPr>
              <a:t>Section 25 — Healthcare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You should get free healthcare close to where you live. Healthcare must work for people with disabilities too.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government hospital or clinic refused you, charged you, or had no accessible service.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34 of 127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  ·  HEALTH AND SUPPORT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C62828"/>
                </a:solidFill>
                <a:latin typeface="Verdana"/>
              </a:rPr>
              <a:t>26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C62828"/>
                </a:solidFill>
                <a:latin typeface="Verdana"/>
              </a:rPr>
              <a:t>Section 26 — Insurance schemes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government must run insurance schemes for persons with disabilities.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An insurance company refused you because of your disability, or you cannot find any disability insurance.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35 of 127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  ·  HEALTH AND SUPPORT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C62828"/>
                </a:solidFill>
                <a:latin typeface="Verdana"/>
              </a:rPr>
              <a:t>27</a:t>
            </a:r>
          </a:p>
        </p:txBody>
      </p:sp>
      <p:pic>
        <p:nvPicPr>
          <p:cNvPr id="6" name="Picture 5" descr="friends_sup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C62828"/>
                </a:solidFill>
                <a:latin typeface="Verdana"/>
              </a:rPr>
              <a:t>Section 27 — Rehabilitation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government must run rehabilitation programmes covering health, mind, social skills, and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government rehab centre is not available, is too far, or refused to take you.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36 of 127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  ·  HEALTH AND SUPPORT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C62828"/>
                </a:solidFill>
                <a:latin typeface="Verdana"/>
              </a:rPr>
              <a:t>28</a:t>
            </a:r>
          </a:p>
        </p:txBody>
      </p:sp>
      <p:pic>
        <p:nvPicPr>
          <p:cNvPr id="6" name="Picture 5" descr="book_o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C62828"/>
                </a:solidFill>
                <a:latin typeface="Verdana"/>
              </a:rPr>
              <a:t>Section 28 — Research and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government must support research on disability, including new tools and treatments.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This section funds research on assistive technology and disability services.)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37 of 127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  ·  HEALTH AND SUPPORT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C62828"/>
                </a:solidFill>
                <a:latin typeface="Verdana"/>
              </a:rPr>
              <a:t>29</a:t>
            </a:r>
          </a:p>
        </p:txBody>
      </p:sp>
      <p:pic>
        <p:nvPicPr>
          <p:cNvPr id="6" name="Picture 5" descr="he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C62828"/>
                </a:solidFill>
                <a:latin typeface="Verdana"/>
              </a:rPr>
              <a:t>Section 29 — Culture and recreation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Persons with disabilities have the right to take part in art, music, films, libraries, and leisure.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museum, cinema, library, or cultural event refused you or had no accessible entry.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38 of 127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  ·  HEALTH AND SUPPORT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C62828"/>
                </a:solidFill>
                <a:latin typeface="Verdana"/>
              </a:rPr>
              <a:t>30</a:t>
            </a:r>
          </a:p>
        </p:txBody>
      </p:sp>
      <p:pic>
        <p:nvPicPr>
          <p:cNvPr id="6" name="Picture 5" descr="certificate_s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C62828"/>
                </a:solidFill>
                <a:latin typeface="Verdana"/>
              </a:rPr>
              <a:t>Section 30 — Sporting activities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government must support sports for persons with disabilities.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sports facility, training programme, or competition refused to include persons with disabilities.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39 of 127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A1B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Verdana"/>
              </a:rPr>
              <a:t>CHAPTER 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1554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Verdana"/>
              </a:rPr>
              <a:t>Special Provisions for Persons with Benchmark Disabilities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  <a:latin typeface="Verdana"/>
              </a:rPr>
              <a:t>Extra rights when your disability is 40% or more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28232"/>
            <a:ext cx="12191695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40 of 127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VI  ·  BENCHMARK DISABILITIES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6A1B9A"/>
                </a:solidFill>
                <a:latin typeface="Verdana"/>
              </a:rPr>
              <a:t>31</a:t>
            </a:r>
          </a:p>
        </p:txBody>
      </p:sp>
      <p:pic>
        <p:nvPicPr>
          <p:cNvPr id="6" name="Picture 5" descr="scho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200" b="1" i="0">
                <a:solidFill>
                  <a:srgbClr val="6A1B9A"/>
                </a:solidFill>
                <a:latin typeface="Verdana"/>
              </a:rPr>
              <a:t>Section 31 — Free education for children with benchmark disabilities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Children with benchmark disabilities aged 6 to 18 have the right to free education in any government or government-aided school.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government school asked a child with benchmark disability to pay fees, or refused to admit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41 of 127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VI  ·  BENCHMARK DISABILITIES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6A1B9A"/>
                </a:solidFill>
                <a:latin typeface="Verdana"/>
              </a:rPr>
              <a:t>32</a:t>
            </a:r>
          </a:p>
        </p:txBody>
      </p:sp>
      <p:pic>
        <p:nvPicPr>
          <p:cNvPr id="6" name="Picture 5" descr="scho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6A1B9A"/>
                </a:solidFill>
                <a:latin typeface="Verdana"/>
              </a:rPr>
              <a:t>Section 32 — Reservation in higher educational institutions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Government colleges and universities must keep 5 seats out of every 100 for students with benchmark disabilities.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college denied you a reserved seat or did not have a 5% disability quota in admissions.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42 of 127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VI  ·  BENCHMARK DISABILITIES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6A1B9A"/>
                </a:solidFill>
                <a:latin typeface="Verdana"/>
              </a:rPr>
              <a:t>33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6A1B9A"/>
                </a:solidFill>
                <a:latin typeface="Verdana"/>
              </a:rPr>
              <a:t>Section 33 — Identification of posts for reservation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government must list out which jobs are open to persons with benchmark disabilities under the reservation.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This section is the basis for the 4% reservation in Section 34.)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43 of 127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VI  ·  BENCHMARK DISABILITIES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6A1B9A"/>
                </a:solidFill>
                <a:latin typeface="Verdana"/>
              </a:rPr>
              <a:t>34</a:t>
            </a:r>
          </a:p>
        </p:txBody>
      </p:sp>
      <p:pic>
        <p:nvPicPr>
          <p:cNvPr id="6" name="Picture 5" descr="chair_reserv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6A1B9A"/>
                </a:solidFill>
                <a:latin typeface="Verdana"/>
              </a:rPr>
              <a:t>Section 34 — Reservation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government must keep 4 jobs out of every 100 for persons with benchmark disabilities. The 4% is split across categories of disability.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government office did not follow the 4% job quota, or did not let you apply under the disability category.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44 of 127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VI  ·  BENCHMARK DISABILITIES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6A1B9A"/>
                </a:solidFill>
                <a:latin typeface="Verdana"/>
              </a:rPr>
              <a:t>35</a:t>
            </a:r>
          </a:p>
        </p:txBody>
      </p:sp>
      <p:pic>
        <p:nvPicPr>
          <p:cNvPr id="6" name="Picture 5" descr="money_j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6A1B9A"/>
                </a:solidFill>
                <a:latin typeface="Verdana"/>
              </a:rPr>
              <a:t>Section 35 — Incentives to employers in private sector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government can give private companies incentives like grants and tax breaks if they hire workers with disabilities.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This section encourages private sector hiring of persons with disabilities.)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45 of 127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VI  ·  BENCHMARK DISABILITIES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6A1B9A"/>
                </a:solidFill>
                <a:latin typeface="Verdana"/>
              </a:rPr>
              <a:t>36</a:t>
            </a:r>
          </a:p>
        </p:txBody>
      </p:sp>
      <p:pic>
        <p:nvPicPr>
          <p:cNvPr id="6" name="Picture 5" descr="brief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6A1B9A"/>
                </a:solidFill>
                <a:latin typeface="Verdana"/>
              </a:rPr>
              <a:t>Section 36 — Special employment exchange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government must set up special job centres that help persons with disabilities find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You cannot find a special employment exchange in your district, or the one you found is not helping you.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46 of 127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VI  ·  BENCHMARK DISABILITIES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6A1B9A"/>
                </a:solidFill>
                <a:latin typeface="Verdana"/>
              </a:rPr>
              <a:t>37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6A1B9A"/>
                </a:solidFill>
                <a:latin typeface="Verdana"/>
              </a:rPr>
              <a:t>Section 37 — Special schemes and development programmes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government must run schemes that help persons with benchmark disabilities live, study, and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This section is the basis for many disability welfare schemes.)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47 of 127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9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Verdana"/>
              </a:rPr>
              <a:t>CHAPTER VII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1554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Verdana"/>
              </a:rPr>
              <a:t>Persons with Disabilities with High Support Needs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  <a:latin typeface="Verdana"/>
              </a:rPr>
              <a:t>Extra support for those who need it most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28232"/>
            <a:ext cx="12191695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48 of 127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VII  ·  HIGH SUPPORT NEEDS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00897B"/>
                </a:solidFill>
                <a:latin typeface="Verdana"/>
              </a:rPr>
              <a:t>38</a:t>
            </a:r>
          </a:p>
        </p:txBody>
      </p:sp>
      <p:pic>
        <p:nvPicPr>
          <p:cNvPr id="6" name="Picture 5" descr="high_support_ha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00897B"/>
                </a:solidFill>
                <a:latin typeface="Verdana"/>
              </a:rPr>
              <a:t>Section 38 — Special provisions for persons with disabilities with high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Persons with disabilities who need a lot of support get extra help. They have the right to ask for support, and the help must be reviewed often.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person needs daily personal support but is not getting it from any government scheme.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49 of 127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Verdana"/>
              </a:rPr>
              <a:t>CHAPTER VIII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1554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Verdana"/>
              </a:rPr>
              <a:t>Duties and Responsibilities of Appropriate Governments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  <a:latin typeface="Verdana"/>
              </a:rPr>
              <a:t>Awareness, accessibility, and what governments must build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28232"/>
            <a:ext cx="12191695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50 of 127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VIII  ·  GOVERNMENT DUTIES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2835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283593"/>
                </a:solidFill>
                <a:latin typeface="Verdana"/>
              </a:rPr>
              <a:t>39</a:t>
            </a:r>
          </a:p>
        </p:txBody>
      </p:sp>
      <p:pic>
        <p:nvPicPr>
          <p:cNvPr id="6" name="Picture 5" descr="mega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283593"/>
                </a:solidFill>
                <a:latin typeface="Verdana"/>
              </a:rPr>
              <a:t>Section 39 — Awareness campaigns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government must run programmes to teach people about disability rights and accessibility.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This section requires public awareness of the Act.)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51 of 127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VIII  ·  GOVERNMENT DUTIES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2835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283593"/>
                </a:solidFill>
                <a:latin typeface="Verdana"/>
              </a:rPr>
              <a:t>40</a:t>
            </a:r>
          </a:p>
        </p:txBody>
      </p:sp>
      <p:pic>
        <p:nvPicPr>
          <p:cNvPr id="6" name="Picture 5" descr="building_ra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283593"/>
                </a:solidFill>
                <a:latin typeface="Verdana"/>
              </a:rPr>
              <a:t>Section 40 — Accessibility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Buildings, places, transport, and information must be made easy to use for everyone, including persons with disabilities.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public building has no ramp, no lift, no accessible toilet, or no clear signs.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52 of 127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VIII  ·  GOVERNMENT DUTIES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2835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283593"/>
                </a:solidFill>
                <a:latin typeface="Verdana"/>
              </a:rPr>
              <a:t>41</a:t>
            </a:r>
          </a:p>
        </p:txBody>
      </p:sp>
      <p:pic>
        <p:nvPicPr>
          <p:cNvPr id="6" name="Picture 5" descr="b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283593"/>
                </a:solidFill>
                <a:latin typeface="Verdana"/>
              </a:rPr>
              <a:t>Section 41 — Access to transport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Buses, trains, stations, and airports must have ramps, accessible signs, and trained staff to help.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bus, train, or station did not let you board, had no ramp or lift, or had no accessible toilet.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53 of 127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VIII  ·  GOVERNMENT DUTIES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2835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283593"/>
                </a:solidFill>
                <a:latin typeface="Verdana"/>
              </a:rPr>
              <a:t>42</a:t>
            </a:r>
          </a:p>
        </p:txBody>
      </p:sp>
      <p:pic>
        <p:nvPicPr>
          <p:cNvPr id="6" name="Picture 5" descr="compu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283593"/>
                </a:solidFill>
                <a:latin typeface="Verdana"/>
              </a:rPr>
              <a:t>Section 42 — Access to information and communication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Websites, apps, TV, and phones must work for people with disabilities. Books, forms, and notices must come in accessible formats too.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government website, app, TV news, or printed form is not accessible to you.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54 of 127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VIII  ·  GOVERNMENT DUTIES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2835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283593"/>
                </a:solidFill>
                <a:latin typeface="Verdana"/>
              </a:rPr>
              <a:t>43</a:t>
            </a:r>
          </a:p>
        </p:txBody>
      </p:sp>
      <p:pic>
        <p:nvPicPr>
          <p:cNvPr id="6" name="Picture 5" descr="compu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283593"/>
                </a:solidFill>
                <a:latin typeface="Verdana"/>
              </a:rPr>
              <a:t>Section 43 — Consumer goods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Things sold in shops — like phones, TVs, and household goods — should be made so that persons with disabilities can use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product you bought is not usable because of your disability and the maker did not provide an accessible version.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55 of 127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VIII  ·  GOVERNMENT DUTIES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2835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283593"/>
                </a:solidFill>
                <a:latin typeface="Verdana"/>
              </a:rPr>
              <a:t>44</a:t>
            </a:r>
          </a:p>
        </p:txBody>
      </p:sp>
      <p:pic>
        <p:nvPicPr>
          <p:cNvPr id="6" name="Picture 5" descr="building_ra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283593"/>
                </a:solidFill>
                <a:latin typeface="Verdana"/>
              </a:rPr>
              <a:t>Section 44 — Mandatory observance of accessibility norms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No new building, transport, or service can get a permit unless it follows the accessibility rules.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new building or service has been approved but does not meet the accessibility standards.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56 of 127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VIII  ·  GOVERNMENT DUTIES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2835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283593"/>
                </a:solidFill>
                <a:latin typeface="Verdana"/>
              </a:rPr>
              <a:t>45</a:t>
            </a:r>
          </a:p>
        </p:txBody>
      </p:sp>
      <p:pic>
        <p:nvPicPr>
          <p:cNvPr id="6" name="Picture 5" descr="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283593"/>
                </a:solidFill>
                <a:latin typeface="Verdana"/>
              </a:rPr>
              <a:t>Section 45 — Time limit for making existing infrastructure and premises accessible and action for that 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Old buildings and services must be made accessible within five years. This is the law, not a request.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public building or service is still inaccessible long after the law required it to be fixed.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57 of 127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VIII  ·  GOVERNMENT DUTIES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2835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283593"/>
                </a:solidFill>
                <a:latin typeface="Verdana"/>
              </a:rPr>
              <a:t>46</a:t>
            </a:r>
          </a:p>
        </p:txBody>
      </p:sp>
      <p:pic>
        <p:nvPicPr>
          <p:cNvPr id="6" name="Picture 5" descr="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283593"/>
                </a:solidFill>
                <a:latin typeface="Verdana"/>
              </a:rPr>
              <a:t>Section 46 — Time limit for accessibility by service providers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Service providers — like banks, hospitals, and shops — must make their services accessible within a fixed time set by the government.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service provider has not made its service accessible within the time the government set.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58 of 127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VIII  ·  GOVERNMENT DUTIES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2835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283593"/>
                </a:solidFill>
                <a:latin typeface="Verdana"/>
              </a:rPr>
              <a:t>47</a:t>
            </a:r>
          </a:p>
        </p:txBody>
      </p:sp>
      <p:pic>
        <p:nvPicPr>
          <p:cNvPr id="6" name="Picture 5" descr="scho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283593"/>
                </a:solidFill>
                <a:latin typeface="Verdana"/>
              </a:rPr>
              <a:t>Section 47 — Human resource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government must train enough teachers, doctors, and other staff to support persons with disabilities.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There are no trained special educators, sign language interpreters, or rehab workers in your area.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59 of 127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VIII  ·  GOVERNMENT DUTIES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2835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283593"/>
                </a:solidFill>
                <a:latin typeface="Verdana"/>
              </a:rPr>
              <a:t>48</a:t>
            </a:r>
          </a:p>
        </p:txBody>
      </p:sp>
      <p:pic>
        <p:nvPicPr>
          <p:cNvPr id="6" name="Picture 5" descr="clipboard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283593"/>
                </a:solidFill>
                <a:latin typeface="Verdana"/>
              </a:rPr>
              <a:t>Section 48 — Social 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government must check, at least every five years, if the schemes for persons with disabilities are working — and persons with disabilities themselves should be part of that check.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scheme is not being audited, or persons with disabilities were not part of the audit.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60 of 127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40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Verdana"/>
              </a:rPr>
              <a:t>CHAPTER 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1554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Verdana"/>
              </a:rPr>
              <a:t>Registration of Disability Institutions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  <a:latin typeface="Verdana"/>
              </a:rPr>
              <a:t>Rules for organisations that work with persons with disabilities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28232"/>
            <a:ext cx="12191695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61 of 127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IX  ·  DISABILITY INSTITUTIONS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5D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5D4037"/>
                </a:solidFill>
                <a:latin typeface="Verdana"/>
              </a:rPr>
              <a:t>49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5D4037"/>
                </a:solidFill>
                <a:latin typeface="Verdana"/>
              </a:rPr>
              <a:t>Section 49 — Competent authority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government must name the office that handles registration of organisations working with persons with disabilities.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This sets up the registration system for disability organisations.)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62 of 127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IX  ·  DISABILITY INSTITUTIONS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5D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5D4037"/>
                </a:solidFill>
                <a:latin typeface="Verdana"/>
              </a:rPr>
              <a:t>50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5D4037"/>
                </a:solidFill>
                <a:latin typeface="Verdana"/>
              </a:rPr>
              <a:t>Section 50 — Registration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Any institution that wants to work with persons with disabilities must be registered. Without registration, they cannot legally provide services.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An institution is offering disability services without being registered.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63 of 127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IX  ·  DISABILITY INSTITUTIONS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5D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5D4037"/>
                </a:solidFill>
                <a:latin typeface="Verdana"/>
              </a:rPr>
              <a:t>51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5D4037"/>
                </a:solidFill>
                <a:latin typeface="Verdana"/>
              </a:rPr>
              <a:t>Section 51 — Application and grant of certificate of registration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An institution must apply for a registration certificate. The competent authority gives the certificate after checking that the rules are met.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Your application for a registration certificate is taking too long, or was unfairly refused.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64 of 127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IX  ·  DISABILITY INSTITUTIONS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5D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5D4037"/>
                </a:solidFill>
                <a:latin typeface="Verdana"/>
              </a:rPr>
              <a:t>52</a:t>
            </a:r>
          </a:p>
        </p:txBody>
      </p:sp>
      <p:pic>
        <p:nvPicPr>
          <p:cNvPr id="6" name="Picture 5" descr="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5D4037"/>
                </a:solidFill>
                <a:latin typeface="Verdana"/>
              </a:rPr>
              <a:t>Section 52 — Revocation of registration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If a registered institution breaks the rules or harms persons with disabilities, its registration can be cancelled.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registered institution is treating persons with disabilities badly. You can ask the authority to cancel its registration.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65 of 127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IX  ·  DISABILITY INSTITUTIONS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5D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5D4037"/>
                </a:solidFill>
                <a:latin typeface="Verdana"/>
              </a:rPr>
              <a:t>53</a:t>
            </a:r>
          </a:p>
        </p:txBody>
      </p:sp>
      <p:pic>
        <p:nvPicPr>
          <p:cNvPr id="6" name="Picture 5" descr="justice_sc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5D4037"/>
                </a:solidFill>
                <a:latin typeface="Verdana"/>
              </a:rPr>
              <a:t>Section 53 — Appeal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If your registration is refused or cancelled, you have the right to appeal to a higher authority.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Your institution's registration was refused or cancelled and you want to challenge that decision.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66 of 127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IX  ·  DISABILITY INSTITUTIONS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5D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5D4037"/>
                </a:solidFill>
                <a:latin typeface="Verdana"/>
              </a:rPr>
              <a:t>54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5D4037"/>
                </a:solidFill>
                <a:latin typeface="Verdana"/>
              </a:rPr>
              <a:t>Section 54 — Act not to apply to institutions established or maintained by Central or State Government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Government-run institutions for persons with disabilities do not need to register under this chapter — different rules apply to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Government institutions are exempt from this registration requirement.)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67 of 127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IX  ·  DISABILITY INSTITUTIONS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5D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5D4037"/>
                </a:solidFill>
                <a:latin typeface="Verdana"/>
              </a:rPr>
              <a:t>55</a:t>
            </a:r>
          </a:p>
        </p:txBody>
      </p:sp>
      <p:pic>
        <p:nvPicPr>
          <p:cNvPr id="6" name="Picture 5" descr="money_j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5D4037"/>
                </a:solidFill>
                <a:latin typeface="Verdana"/>
              </a:rPr>
              <a:t>Section 55 — Assistance to registered institutions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government can give grants and other help to registered organisations that serve persons with disabilities.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This section is the basis for funding disability organisations.)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68 of 127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3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Verdana"/>
              </a:rPr>
              <a:t>CHAPTER 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1554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Verdana"/>
              </a:rPr>
              <a:t>Certification of Specified Disabilities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  <a:latin typeface="Verdana"/>
              </a:rPr>
              <a:t>How to assess and certify a disability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28232"/>
            <a:ext cx="12191695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69 of 127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  ·  CERTIFICATION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00838F"/>
                </a:solidFill>
                <a:latin typeface="Verdana"/>
              </a:rPr>
              <a:t>56</a:t>
            </a:r>
          </a:p>
        </p:txBody>
      </p:sp>
      <p:pic>
        <p:nvPicPr>
          <p:cNvPr id="6" name="Picture 5" descr="clipboard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00838F"/>
                </a:solidFill>
                <a:latin typeface="Verdana"/>
              </a:rPr>
              <a:t>Section 56 — Guidelines for assessment of specified disabilities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government must publish clear guidelines on how to assess each of the 21 specified disabilities.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The assessment guidelines are issued by the central government.)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70 of 127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  ·  CERTIFICATION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00838F"/>
                </a:solidFill>
                <a:latin typeface="Verdana"/>
              </a:rPr>
              <a:t>57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00838F"/>
                </a:solidFill>
                <a:latin typeface="Verdana"/>
              </a:rPr>
              <a:t>Section 57 — Designation of certifying authorities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government must name the doctors and offices that can issue a disability certificate.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This sets up the disability certification system.)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71 of 127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  ·  CERTIFICATION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00838F"/>
                </a:solidFill>
                <a:latin typeface="Verdana"/>
              </a:rPr>
              <a:t>58</a:t>
            </a:r>
          </a:p>
        </p:txBody>
      </p:sp>
      <p:pic>
        <p:nvPicPr>
          <p:cNvPr id="6" name="Picture 5" descr="clipboard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00838F"/>
                </a:solidFill>
                <a:latin typeface="Verdana"/>
              </a:rPr>
              <a:t>Section 58 — Procedure for certification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There must be a clear, fair process to get a disability certificate. The certificate is valid all over India.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doctor or office is making the certificate process hard, slow, or unclear.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72 of 127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  ·  CERTIFICATION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00838F"/>
                </a:solidFill>
                <a:latin typeface="Verdana"/>
              </a:rPr>
              <a:t>59</a:t>
            </a:r>
          </a:p>
        </p:txBody>
      </p:sp>
      <p:pic>
        <p:nvPicPr>
          <p:cNvPr id="6" name="Picture 5" descr="justice_sc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00838F"/>
                </a:solidFill>
                <a:latin typeface="Verdana"/>
              </a:rPr>
              <a:t>Section 59 — Appeal against a decision of certifying authority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If you are refused a disability certificate or get the wrong one, you can appeal.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Your application for a disability certificate was refused, or the percentage was wrong.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73 of 127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2D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Verdana"/>
              </a:rPr>
              <a:t>CHAPTER XI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1554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Verdana"/>
              </a:rPr>
              <a:t>Advisory Boards on Disability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  <a:latin typeface="Verdana"/>
              </a:rPr>
              <a:t>Central, state, and district advisory bodies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28232"/>
            <a:ext cx="12191695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74 of 127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  ·  ADVISORY BOARDS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512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512DA8"/>
                </a:solidFill>
                <a:latin typeface="Verdana"/>
              </a:rPr>
              <a:t>60</a:t>
            </a:r>
          </a:p>
        </p:txBody>
      </p:sp>
      <p:pic>
        <p:nvPicPr>
          <p:cNvPr id="6" name="Picture 5" descr="committee_peo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200" b="1" i="0">
                <a:solidFill>
                  <a:srgbClr val="512DA8"/>
                </a:solidFill>
                <a:latin typeface="Verdana"/>
              </a:rPr>
              <a:t>Section 60 — Constitution of Central Advisory Board on Disability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central government must set up a Central Advisory Board on Disability to advise on disability matters.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This sets up the national disability advisory body.)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75 of 127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  ·  ADVISORY BOARDS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512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512DA8"/>
                </a:solidFill>
                <a:latin typeface="Verdana"/>
              </a:rPr>
              <a:t>61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512DA8"/>
                </a:solidFill>
                <a:latin typeface="Verdana"/>
              </a:rPr>
              <a:t>Section 61 — Terms and conditions of service of members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rules say how Central Advisory Board members are paid and how long they serve.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Administrative rule for Central Advisory Board members.)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76 of 127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  ·  ADVISORY BOARDS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512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512DA8"/>
                </a:solidFill>
                <a:latin typeface="Verdana"/>
              </a:rPr>
              <a:t>62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512DA8"/>
                </a:solidFill>
                <a:latin typeface="Verdana"/>
              </a:rPr>
              <a:t>Section 62 — Disqualifications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Some people cannot be members of the Central Advisory Board — for example, people convicted of serious crimes.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Lists who cannot be a Central Advisory Board member.)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77 of 127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  ·  ADVISORY BOARDS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512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512DA8"/>
                </a:solidFill>
                <a:latin typeface="Verdana"/>
              </a:rPr>
              <a:t>63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512DA8"/>
                </a:solidFill>
                <a:latin typeface="Verdana"/>
              </a:rPr>
              <a:t>Section 63 — Vacation of seats by Members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If a Central Advisory Board member misses too many meetings or breaks the rules, they lose their seat.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Administrative rule for Central Advisory Board.)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78 of 127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  ·  ADVISORY BOARDS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512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512DA8"/>
                </a:solidFill>
                <a:latin typeface="Verdana"/>
              </a:rPr>
              <a:t>64</a:t>
            </a:r>
          </a:p>
        </p:txBody>
      </p:sp>
      <p:pic>
        <p:nvPicPr>
          <p:cNvPr id="6" name="Picture 5" descr="committee_peo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200" b="1" i="0">
                <a:solidFill>
                  <a:srgbClr val="512DA8"/>
                </a:solidFill>
                <a:latin typeface="Verdana"/>
              </a:rPr>
              <a:t>Section 64 — Meetings of the Central Advisory Board on disability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Central Advisory Board must meet at least once every six months.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The Central Advisory Board has not met in over six months.)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79 of 127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  ·  ADVISORY BOARDS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512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512DA8"/>
                </a:solidFill>
                <a:latin typeface="Verdana"/>
              </a:rPr>
              <a:t>65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200" b="1" i="0">
                <a:solidFill>
                  <a:srgbClr val="512DA8"/>
                </a:solidFill>
                <a:latin typeface="Verdana"/>
              </a:rPr>
              <a:t>Section 65 — Functions of Central Advisory Board on disability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Central Advisory Board advises the central government on disability rules, schemes, and reports.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Lists what the Central Advisory Board does.)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80 of 127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  ·  ADVISORY BOARDS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512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512DA8"/>
                </a:solidFill>
                <a:latin typeface="Verdana"/>
              </a:rPr>
              <a:t>66</a:t>
            </a:r>
          </a:p>
        </p:txBody>
      </p:sp>
      <p:pic>
        <p:nvPicPr>
          <p:cNvPr id="6" name="Picture 5" descr="committee_peo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512DA8"/>
                </a:solidFill>
                <a:latin typeface="Verdana"/>
              </a:rPr>
              <a:t>Section 66 — State Advisory Board on disability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Every state must set up its own State Advisory Board on Disability.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Your state does not have a State Advisory Board on Disability.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81 of 127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  ·  ADVISORY BOARDS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512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512DA8"/>
                </a:solidFill>
                <a:latin typeface="Verdana"/>
              </a:rPr>
              <a:t>67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512DA8"/>
                </a:solidFill>
                <a:latin typeface="Verdana"/>
              </a:rPr>
              <a:t>Section 67 — Terms and conditions of service of Members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Rules for State Advisory Board members — pay, term, and conditions.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Administrative rule for State Advisory Board members.)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82 of 127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  ·  ADVISORY BOARDS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512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512DA8"/>
                </a:solidFill>
                <a:latin typeface="Verdana"/>
              </a:rPr>
              <a:t>68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512DA8"/>
                </a:solidFill>
                <a:latin typeface="Verdana"/>
              </a:rPr>
              <a:t>Section 68 — Disqualification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Same kind of rules as the Central Board: who cannot be a State Advisory Board member.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Administrative rule for State Advisory Board.)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83 of 127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  ·  ADVISORY BOARDS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512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512DA8"/>
                </a:solidFill>
                <a:latin typeface="Verdana"/>
              </a:rPr>
              <a:t>69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512DA8"/>
                </a:solidFill>
                <a:latin typeface="Verdana"/>
              </a:rPr>
              <a:t>Section 69 — Vacation of seats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When a State Advisory Board member loses their seat — missed meetings, broken rules, etc.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Administrative rule for State Advisory Board.)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84 of 127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  ·  ADVISORY BOARDS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512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512DA8"/>
                </a:solidFill>
                <a:latin typeface="Verdana"/>
              </a:rPr>
              <a:t>70</a:t>
            </a:r>
          </a:p>
        </p:txBody>
      </p:sp>
      <p:pic>
        <p:nvPicPr>
          <p:cNvPr id="6" name="Picture 5" descr="committee_peo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200" b="1" i="0">
                <a:solidFill>
                  <a:srgbClr val="512DA8"/>
                </a:solidFill>
                <a:latin typeface="Verdana"/>
              </a:rPr>
              <a:t>Section 70 — Meetings of State Advisory Board on disability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State Advisory Board must meet at least once every six months.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Your State Advisory Board has not met in over six months.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85 of 127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  ·  ADVISORY BOARDS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512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512DA8"/>
                </a:solidFill>
                <a:latin typeface="Verdana"/>
              </a:rPr>
              <a:t>71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200" b="1" i="0">
                <a:solidFill>
                  <a:srgbClr val="512DA8"/>
                </a:solidFill>
                <a:latin typeface="Verdana"/>
              </a:rPr>
              <a:t>Section 71 — Functions of State Advisory Board on disability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State Advisory Board advises the state government on disability rules, schemes, and reports.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Lists what the State Advisory Board does.)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86 of 127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  ·  ADVISORY BOARDS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512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512DA8"/>
                </a:solidFill>
                <a:latin typeface="Verdana"/>
              </a:rPr>
              <a:t>72</a:t>
            </a:r>
          </a:p>
        </p:txBody>
      </p:sp>
      <p:pic>
        <p:nvPicPr>
          <p:cNvPr id="6" name="Picture 5" descr="committee_peo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512DA8"/>
                </a:solidFill>
                <a:latin typeface="Verdana"/>
              </a:rPr>
              <a:t>Section 72 — District-level Committee on disability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Every district must have a committee that handles disability matters at the district level.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Your district has no disability committee, or the committee is not working.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87 of 127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  ·  ADVISORY BOARDS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512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512DA8"/>
                </a:solidFill>
                <a:latin typeface="Verdana"/>
              </a:rPr>
              <a:t>73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512DA8"/>
                </a:solidFill>
                <a:latin typeface="Verdana"/>
              </a:rPr>
              <a:t>Section 73 — Vacancies not to invalidate proceedings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Even if some seats on the Boards or committees are empty, their decisions are still valid.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Administrative rule.)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88 of 127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89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Verdana"/>
              </a:rPr>
              <a:t>CHAPTER XII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1554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Verdana"/>
              </a:rPr>
              <a:t>Chief Commissioner and State Commissioners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  <a:latin typeface="Verdana"/>
              </a:rPr>
              <a:t>The offices that handle your complaints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28232"/>
            <a:ext cx="12191695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89 of 127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XII  ·  COMMISSIONERS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689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689F38"/>
                </a:solidFill>
                <a:latin typeface="Verdana"/>
              </a:rPr>
              <a:t>74</a:t>
            </a:r>
          </a:p>
        </p:txBody>
      </p:sp>
      <p:pic>
        <p:nvPicPr>
          <p:cNvPr id="6" name="Picture 5" descr="commissioner_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689F38"/>
                </a:solidFill>
                <a:latin typeface="Verdana"/>
              </a:rPr>
              <a:t>Section 74 — Appointment of Chief Commissioner and Commissioners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central government appoints a Chief Commissioner for Persons with Disabilities and two Commissioners under the Chief Commissioner.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This sets up the national disability complaints office.)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90 of 127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XII  ·  COMMISSIONERS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689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689F38"/>
                </a:solidFill>
                <a:latin typeface="Verdana"/>
              </a:rPr>
              <a:t>75</a:t>
            </a:r>
          </a:p>
        </p:txBody>
      </p:sp>
      <p:pic>
        <p:nvPicPr>
          <p:cNvPr id="6" name="Picture 5" descr="commissioner_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689F38"/>
                </a:solidFill>
                <a:latin typeface="Verdana"/>
              </a:rPr>
              <a:t>Section 75 — Functions of Chief Commissioner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Chief Commissioner watches over how the Act is being followed across India and takes action when rights are broken.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The Chief Commissioner is who you escalate to after the State Commissioner.)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91 of 127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XII  ·  COMMISSIONERS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689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689F38"/>
                </a:solidFill>
                <a:latin typeface="Verdana"/>
              </a:rPr>
              <a:t>76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1" i="0">
                <a:solidFill>
                  <a:srgbClr val="689F38"/>
                </a:solidFill>
                <a:latin typeface="Verdana"/>
              </a:rPr>
              <a:t>Section 76 — Action of appropriate authorities on recommendation of Chief Commissioner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When the Chief Commissioner makes a recommendation, the government office must act on it within a fixed time and report 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The Chief Commissioner gave a recommendation and the office did not act on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92 of 127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XII  ·  COMMISSIONERS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689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689F38"/>
                </a:solidFill>
                <a:latin typeface="Verdana"/>
              </a:rPr>
              <a:t>77</a:t>
            </a:r>
          </a:p>
        </p:txBody>
      </p:sp>
      <p:pic>
        <p:nvPicPr>
          <p:cNvPr id="6" name="Picture 5" descr="justice_sc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689F38"/>
                </a:solidFill>
                <a:latin typeface="Verdana"/>
              </a:rPr>
              <a:t>Section 77 — Powers of Chief Commissioner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Chief Commissioner can call witnesses, ask for documents, and act like a civil court when looking into a complaint.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You filed a complaint with the Chief Commissioner and they have not used their powers.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93 of 127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XII  ·  COMMISSIONERS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689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689F38"/>
                </a:solidFill>
                <a:latin typeface="Verdana"/>
              </a:rPr>
              <a:t>78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200" b="1" i="0">
                <a:solidFill>
                  <a:srgbClr val="689F38"/>
                </a:solidFill>
                <a:latin typeface="Verdana"/>
              </a:rPr>
              <a:t>Section 78 — Annual and special reports by Chief Commissioner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Chief Commissioner must publish a yearly report. The report goes to Parliament.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The Chief Commissioner has not published a yearly report.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94 of 127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XII  ·  COMMISSIONERS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689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689F38"/>
                </a:solidFill>
                <a:latin typeface="Verdana"/>
              </a:rPr>
              <a:t>79</a:t>
            </a:r>
          </a:p>
        </p:txBody>
      </p:sp>
      <p:pic>
        <p:nvPicPr>
          <p:cNvPr id="6" name="Picture 5" descr="commissioner_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689F38"/>
                </a:solidFill>
                <a:latin typeface="Verdana"/>
              </a:rPr>
              <a:t>Section 79 — Appointment of State Commissioner in States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Every state must appoint a State Commissioner for Persons with Disabilities.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Your state does not have a State Commissioner for Persons with Disabilities.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95 of 127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XII  ·  COMMISSIONERS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689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689F38"/>
                </a:solidFill>
                <a:latin typeface="Verdana"/>
              </a:rPr>
              <a:t>80</a:t>
            </a:r>
          </a:p>
        </p:txBody>
      </p:sp>
      <p:pic>
        <p:nvPicPr>
          <p:cNvPr id="6" name="Picture 5" descr="commissioner_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689F38"/>
                </a:solidFill>
                <a:latin typeface="Verdana"/>
              </a:rPr>
              <a:t>Section 80 — Functions of State Commissioner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State Commissioner handles complaints in the state and watches over the Act in the state.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Use the State Commissioner as your first stop for complaints inside your state.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96 of 127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XII  ·  COMMISSIONERS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689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689F38"/>
                </a:solidFill>
                <a:latin typeface="Verdana"/>
              </a:rPr>
              <a:t>81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1" i="0">
                <a:solidFill>
                  <a:srgbClr val="689F38"/>
                </a:solidFill>
                <a:latin typeface="Verdana"/>
              </a:rPr>
              <a:t>Section 81 — Action by appropriate authorities on recommendation of State Commissioner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When the State Commissioner makes a recommendation, the office must act on it and report back within a fixed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The State Commissioner gave a recommendation and the office did not act on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97 of 127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XII  ·  COMMISSIONERS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689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689F38"/>
                </a:solidFill>
                <a:latin typeface="Verdana"/>
              </a:rPr>
              <a:t>82</a:t>
            </a:r>
          </a:p>
        </p:txBody>
      </p:sp>
      <p:pic>
        <p:nvPicPr>
          <p:cNvPr id="6" name="Picture 5" descr="justice_sc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689F38"/>
                </a:solidFill>
                <a:latin typeface="Verdana"/>
              </a:rPr>
              <a:t>Section 82 — Powers of State Commissioner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State Commissioner can call witnesses, ask for documents, and act like a civil court when looking into a complaint.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You filed a complaint and the State Commissioner has not used their powers.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98 of 127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XII  ·  COMMISSIONERS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689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689F38"/>
                </a:solidFill>
                <a:latin typeface="Verdana"/>
              </a:rPr>
              <a:t>83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200" b="1" i="0">
                <a:solidFill>
                  <a:srgbClr val="689F38"/>
                </a:solidFill>
                <a:latin typeface="Verdana"/>
              </a:rPr>
              <a:t>Section 83 — Annual and special reports by State Commissioner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State Commissioner must publish a yearly report. The report goes to the state government.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The State Commissioner in your state has not published a yearly report.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99 of 127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36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Verdana"/>
              </a:rPr>
              <a:t>CHAPTER XIII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1554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Verdana"/>
              </a:rPr>
              <a:t>Special Court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  <a:latin typeface="Verdana"/>
              </a:rPr>
              <a:t>Where serious cases under this Act are heard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28232"/>
            <a:ext cx="12191695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100 of 127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XIII  ·  SPECIAL COURT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BF360C"/>
                </a:solidFill>
                <a:latin typeface="Verdana"/>
              </a:rPr>
              <a:t>84</a:t>
            </a:r>
          </a:p>
        </p:txBody>
      </p:sp>
      <p:pic>
        <p:nvPicPr>
          <p:cNvPr id="6" name="Picture 5" descr="courtho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BF360C"/>
                </a:solidFill>
                <a:latin typeface="Verdana"/>
              </a:rPr>
              <a:t>Section 84 — Special Court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Each state must have a Special Court to handle serious offences against persons with disabilities under this Act.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serious case under this Act is not being heard in a Special Court.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101 of 127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XIII  ·  SPECIAL COURT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BF360C"/>
                </a:solidFill>
                <a:latin typeface="Verdana"/>
              </a:rPr>
              <a:t>85</a:t>
            </a:r>
          </a:p>
        </p:txBody>
      </p:sp>
      <p:pic>
        <p:nvPicPr>
          <p:cNvPr id="6" name="Picture 5" descr="courtho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BF360C"/>
                </a:solidFill>
                <a:latin typeface="Verdana"/>
              </a:rPr>
              <a:t>Section 85 — Special Public Prosecutor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Each Special Court must have a Special Public Prosecutor to argue the case for the victim.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case is being heard in the Special Court without a Special Public Prosecutor.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102 of 127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5A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Verdana"/>
              </a:rPr>
              <a:t>CHAPTER XIV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1554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Verdana"/>
              </a:rPr>
              <a:t>National Fund for Persons with Disabilities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  <a:latin typeface="Verdana"/>
              </a:rPr>
              <a:t>The national pot of money that pays for support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28232"/>
            <a:ext cx="12191695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103 of 127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XIV  ·  NATIONAL FUND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455A64"/>
                </a:solidFill>
                <a:latin typeface="Verdana"/>
              </a:rPr>
              <a:t>86</a:t>
            </a:r>
          </a:p>
        </p:txBody>
      </p:sp>
      <p:pic>
        <p:nvPicPr>
          <p:cNvPr id="6" name="Picture 5" descr="money_j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455A64"/>
                </a:solidFill>
                <a:latin typeface="Verdana"/>
              </a:rPr>
              <a:t>Section 86 — National Fund for persons with disabilities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There is a National Fund for Persons with Disabilities. The Fund pays for schemes, support, and grants.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The Fund pays for many disability programmes.)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104 of 127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XIV  ·  NATIONAL FUND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455A64"/>
                </a:solidFill>
                <a:latin typeface="Verdana"/>
              </a:rPr>
              <a:t>87</a:t>
            </a:r>
          </a:p>
        </p:txBody>
      </p:sp>
      <p:pic>
        <p:nvPicPr>
          <p:cNvPr id="6" name="Picture 5" descr="clipboard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455A64"/>
                </a:solidFill>
                <a:latin typeface="Verdana"/>
              </a:rPr>
              <a:t>Section 87 — Accounts and 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National Fund must keep clear accounts. The accounts must be audited every year.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Audit rule for the National Fund.)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105 of 127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E34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Verdana"/>
              </a:rPr>
              <a:t>CHAPTER XV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1554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Verdana"/>
              </a:rPr>
              <a:t>State Fund for Persons with Disabilities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  <a:latin typeface="Verdana"/>
              </a:rPr>
              <a:t>Each state's own disability fund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28232"/>
            <a:ext cx="12191695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4E3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106 of 127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4E3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XV  ·  STATE FUND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4E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4E342E"/>
                </a:solidFill>
                <a:latin typeface="Verdana"/>
              </a:rPr>
              <a:t>88</a:t>
            </a:r>
          </a:p>
        </p:txBody>
      </p:sp>
      <p:pic>
        <p:nvPicPr>
          <p:cNvPr id="6" name="Picture 5" descr="money_j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4E342E"/>
                </a:solidFill>
                <a:latin typeface="Verdana"/>
              </a:rPr>
              <a:t>Section 88 — State Fund for persons with disabilities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Every state must set up a State Fund for Persons with Disabilities, like the National Fund.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4E3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Your state has no State Fund, or the State Fund is not being used for persons with disabilities.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4E3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107 of 127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Verdana"/>
              </a:rPr>
              <a:t>CHAPTER XVI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1554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Verdana"/>
              </a:rPr>
              <a:t>Offences and Penalties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  <a:latin typeface="Verdana"/>
              </a:rPr>
              <a:t>If someone breaks these rules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28232"/>
            <a:ext cx="12191695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108 of 127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XVI  ·  PENALTIES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B71C1C"/>
                </a:solidFill>
                <a:latin typeface="Verdana"/>
              </a:rPr>
              <a:t>89</a:t>
            </a:r>
          </a:p>
        </p:txBody>
      </p:sp>
      <p:pic>
        <p:nvPicPr>
          <p:cNvPr id="6" name="Picture 5" descr="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B71C1C"/>
                </a:solidFill>
                <a:latin typeface="Verdana"/>
              </a:rPr>
              <a:t>Section 89 — Punishment for contravention of provisions of Act or rules or regulations made thereunder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If anyone breaks the rules of this Act, they can be fined. The first time: up to Rs 10,000. The next time: Rs 50,000 to Rs 5 lakh.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Someone or some office is breaking the rules of this Act and you want them to be punished.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109 of 127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XVI  ·  PENALTIES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B71C1C"/>
                </a:solidFill>
                <a:latin typeface="Verdana"/>
              </a:rPr>
              <a:t>90</a:t>
            </a:r>
          </a:p>
        </p:txBody>
      </p:sp>
      <p:pic>
        <p:nvPicPr>
          <p:cNvPr id="6" name="Picture 5" descr="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B71C1C"/>
                </a:solidFill>
                <a:latin typeface="Verdana"/>
              </a:rPr>
              <a:t>Section 90 — Offences by companies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If a company breaks the rules of this Act, the people running the company can also be punished.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company has broken the rules and you want the managers to be held responsible too.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110 of 127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XVI  ·  PENALTIES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B71C1C"/>
                </a:solidFill>
                <a:latin typeface="Verdana"/>
              </a:rPr>
              <a:t>91</a:t>
            </a:r>
          </a:p>
        </p:txBody>
      </p:sp>
      <p:pic>
        <p:nvPicPr>
          <p:cNvPr id="6" name="Picture 5" descr="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B71C1C"/>
                </a:solidFill>
                <a:latin typeface="Verdana"/>
              </a:rPr>
              <a:t>Section 91 — Punishment for fraudulently availing any benefit meant for persons with benchmark disabilities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If a person fakes a disability to get benefits meant for persons with benchmark disabilities, they can be jailed for up to 2 years and fined up to Rs 1 lakh.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Someone is faking a disability certificate to get a job, seat, or benefit reserved for persons with disabilities.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111 of 127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XVI  ·  PENALTIES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B71C1C"/>
                </a:solidFill>
                <a:latin typeface="Verdana"/>
              </a:rPr>
              <a:t>92</a:t>
            </a:r>
          </a:p>
        </p:txBody>
      </p:sp>
      <p:pic>
        <p:nvPicPr>
          <p:cNvPr id="6" name="Picture 5" descr="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B71C1C"/>
                </a:solidFill>
                <a:latin typeface="Verdana"/>
              </a:rPr>
              <a:t>Section 92 — Punishment for offences of atrocities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If someone insults you, hurts you, or humiliates you because of your disability, they can go to jail for 6 months to 5 years.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Someone publicly insults, beats, denies food, or sexually abuses a person with a disability because of their disability.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112 of 127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XVI  ·  PENALTIES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B71C1C"/>
                </a:solidFill>
                <a:latin typeface="Verdana"/>
              </a:rPr>
              <a:t>93</a:t>
            </a:r>
          </a:p>
        </p:txBody>
      </p:sp>
      <p:pic>
        <p:nvPicPr>
          <p:cNvPr id="6" name="Picture 5" descr="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B71C1C"/>
                </a:solidFill>
                <a:latin typeface="Verdana"/>
              </a:rPr>
              <a:t>Section 93 — Punishment for failure to furnish information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If anyone refuses to give information that the Chief Commissioner or State Commissioner asks for, they can be fined.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An office refused to send information to the Chief Commissioner or State Commissioner.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113 of 127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XVI  ·  PENALTIES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B71C1C"/>
                </a:solidFill>
                <a:latin typeface="Verdana"/>
              </a:rPr>
              <a:t>94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B71C1C"/>
                </a:solidFill>
                <a:latin typeface="Verdana"/>
              </a:rPr>
              <a:t>Section 94 — Previous sanction of appropriate Government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Some cases under this Act need permission from the government before they can be filed in court.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Procedural rule for filing certain cases.)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114 of 127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XVI  ·  PENALTIES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B71C1C"/>
                </a:solidFill>
                <a:latin typeface="Verdana"/>
              </a:rPr>
              <a:t>95</a:t>
            </a:r>
          </a:p>
        </p:txBody>
      </p:sp>
      <p:pic>
        <p:nvPicPr>
          <p:cNvPr id="6" name="Picture 5" descr="justice_sc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B71C1C"/>
                </a:solidFill>
                <a:latin typeface="Verdana"/>
              </a:rPr>
              <a:t>Section 95 — Alternative punishments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court can give other punishments — like community service or training — instead of fine or jail in some cases.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Court has flexibility on punishment in some cases.)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115 of 127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2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Verdana"/>
              </a:rPr>
              <a:t>CHAPTER XVII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1554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Verdana"/>
              </a:rPr>
              <a:t>Miscellaneous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  <a:latin typeface="Verdana"/>
              </a:rPr>
              <a:t>The closing rules of the 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28232"/>
            <a:ext cx="12191695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116 of 127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XVII  ·  MISCELLANEOUS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424242"/>
                </a:solidFill>
                <a:latin typeface="Verdana"/>
              </a:rPr>
              <a:t>96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424242"/>
                </a:solidFill>
                <a:latin typeface="Verdana"/>
              </a:rPr>
              <a:t>Section 96 — Application of other laws not barred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This Act does not stop you from using other laws too. You can use this Act and other laws together.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You can use multiple legal protections at once.)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117 of 127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XVII  ·  MISCELLANEOUS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424242"/>
                </a:solidFill>
                <a:latin typeface="Verdana"/>
              </a:rPr>
              <a:t>97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424242"/>
                </a:solidFill>
                <a:latin typeface="Verdana"/>
              </a:rPr>
              <a:t>Section 97 — Protection of action taken in good faith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Government officers and others cannot be sued for actions they take honestly under this Act.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Protects officers acting in good faith.)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118 of 127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XVII  ·  MISCELLANEOUS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424242"/>
                </a:solidFill>
                <a:latin typeface="Verdana"/>
              </a:rPr>
              <a:t>98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424242"/>
                </a:solidFill>
                <a:latin typeface="Verdana"/>
              </a:rPr>
              <a:t>Section 98 — Power to remove difficulties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If something in this Act is unclear or hard to do, the central government can issue an order to fix it within three years of the Act starting.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Allows the central government to issue clarifications.)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119 of 127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XVII  ·  MISCELLANEOUS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424242"/>
                </a:solidFill>
                <a:latin typeface="Verdana"/>
              </a:rPr>
              <a:t>99</a:t>
            </a:r>
          </a:p>
        </p:txBody>
      </p:sp>
      <p:pic>
        <p:nvPicPr>
          <p:cNvPr id="6" name="Picture 5" descr="book_si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424242"/>
                </a:solidFill>
                <a:latin typeface="Verdana"/>
              </a:rPr>
              <a:t>Section 99 — Power to amend Schedule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central government can change the list of 21 specified disabilities — add, remove, or change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The list of disabilities can be updated by the central government.)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120 of 127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XVII  ·  MISCELLANEOUS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424242"/>
                </a:solidFill>
                <a:latin typeface="Verdana"/>
              </a:rPr>
              <a:t>100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424242"/>
                </a:solidFill>
                <a:latin typeface="Verdana"/>
              </a:rPr>
              <a:t>Section 100 — Power of Central Government to make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central government can make rules to put this Act into 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Many parts of the Act work through rules made under Section 100.)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121 of 127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XVII  ·  MISCELLANEOUS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424242"/>
                </a:solidFill>
                <a:latin typeface="Verdana"/>
              </a:rPr>
              <a:t>101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424242"/>
                </a:solidFill>
                <a:latin typeface="Verdana"/>
              </a:rPr>
              <a:t>Section 101 — Power of State Government to make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Each state government can make its own rules to put this Act into action in the state.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State governments make their own rules under Section 101.)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122 of 127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XVII  ·  MISCELLANEOUS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1" i="0">
                <a:solidFill>
                  <a:srgbClr val="424242"/>
                </a:solidFill>
                <a:latin typeface="Verdana"/>
              </a:rPr>
              <a:t>102</a:t>
            </a:r>
          </a:p>
        </p:txBody>
      </p:sp>
      <p:pic>
        <p:nvPicPr>
          <p:cNvPr id="6" name="Picture 5" descr="book_si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i="0">
                <a:solidFill>
                  <a:srgbClr val="424242"/>
                </a:solidFill>
                <a:latin typeface="Verdana"/>
              </a:rPr>
              <a:t>Section 102 — Repeal and savings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This Act replaces the older 1995 Persons with Disabilities Act, but actions already taken under the old Act are still valid.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The 1995 PWD Act is repealed and replaced by this 2016 Act.)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123 of 127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09728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Verdana"/>
              </a:rPr>
              <a:t>How to file a complaint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1">
                <a:solidFill>
                  <a:srgbClr val="555555"/>
                </a:solidFill>
                <a:latin typeface="Verdana"/>
              </a:rPr>
              <a:t>Five steps to raise a complaint under the RPwD Act: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485900"/>
            <a:ext cx="777240" cy="77724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85900"/>
            <a:ext cx="777240" cy="7772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Verdana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91640" y="1417320"/>
            <a:ext cx="10058400" cy="914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20240" y="1508760"/>
            <a:ext cx="9784080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00B0F0"/>
                </a:solidFill>
                <a:latin typeface="Verdana"/>
              </a:rPr>
              <a:t>Write down what happened.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920240"/>
            <a:ext cx="978408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Verdana"/>
              </a:rPr>
              <a:t>Date, place, names if you know them. Two or three lines is fine.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473452"/>
            <a:ext cx="777240" cy="777240"/>
          </a:xfrm>
          <a:prstGeom prst="ellipse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473452"/>
            <a:ext cx="777240" cy="7772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Verdana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91640" y="2404872"/>
            <a:ext cx="10058400" cy="914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F08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20240" y="2496312"/>
            <a:ext cx="9784080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F080B0"/>
                </a:solidFill>
                <a:latin typeface="Verdana"/>
              </a:rPr>
              <a:t>Find the right Section number.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907792"/>
            <a:ext cx="978408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Verdana"/>
              </a:rPr>
              <a:t>Use this guide to pick the Section that fits your problem. Write it on your complaint.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461004"/>
            <a:ext cx="777240" cy="77724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461004"/>
            <a:ext cx="777240" cy="7772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Verdana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91640" y="3392424"/>
            <a:ext cx="10058400" cy="914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920240" y="3483864"/>
            <a:ext cx="9784080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00B0F0"/>
                </a:solidFill>
                <a:latin typeface="Verdana"/>
              </a:rPr>
              <a:t>Send your complaint.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895344"/>
            <a:ext cx="978408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Verdana"/>
              </a:rPr>
              <a:t>Send it to the State Commissioner for Persons with Disabilities in your state. By email or by post.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448556"/>
            <a:ext cx="777240" cy="777240"/>
          </a:xfrm>
          <a:prstGeom prst="ellipse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448556"/>
            <a:ext cx="777240" cy="7772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Verdana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91640" y="4379976"/>
            <a:ext cx="10058400" cy="914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F08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920240" y="4471416"/>
            <a:ext cx="9784080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F080B0"/>
                </a:solidFill>
                <a:latin typeface="Verdana"/>
              </a:rPr>
              <a:t>Keep proof.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882896"/>
            <a:ext cx="978408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Verdana"/>
              </a:rPr>
              <a:t>Save a copy. Get a receipt, an email reply, or a stamp showing they got your complaint.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" y="5436108"/>
            <a:ext cx="777240" cy="77724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5436108"/>
            <a:ext cx="777240" cy="7772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Verdana"/>
              </a:rP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91640" y="5367528"/>
            <a:ext cx="10058400" cy="914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920240" y="5458968"/>
            <a:ext cx="9784080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00B0F0"/>
                </a:solidFill>
                <a:latin typeface="Verdana"/>
              </a:rPr>
              <a:t>Wait 60 days.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5870448"/>
            <a:ext cx="978408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Verdana"/>
              </a:rPr>
              <a:t>If nothing happens in 60 days, you can take it to the Chief Commissioner or to court.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7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124 of 127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09728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Verdana"/>
              </a:rPr>
              <a:t>Who can help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 i="1">
                <a:solidFill>
                  <a:srgbClr val="555555"/>
                </a:solidFill>
                <a:latin typeface="Verdana"/>
              </a:rPr>
              <a:t>If your rights are not respected, these offices can help: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5486400" cy="22402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17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5486400" cy="502920"/>
          </a:xfrm>
          <a:prstGeom prst="roundRect">
            <a:avLst>
              <a:gd name="adj" fmla="val 20000"/>
            </a:avLst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521208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State Commissioner for Persons with Disabilities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57400"/>
            <a:ext cx="5212080" cy="11430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Verdana"/>
              </a:rPr>
              <a:t>Every state in India has one. They handle complaints inside the state. Look up your state's office or ask the state social welfare department.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00400"/>
            <a:ext cx="521208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200" b="0" i="1">
                <a:solidFill>
                  <a:srgbClr val="00B0F0"/>
                </a:solidFill>
                <a:latin typeface="Verdana"/>
              </a:rPr>
              <a:t>First place to go for most complaints.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486400" cy="22402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1750">
            <a:solidFill>
              <a:srgbClr val="F08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486400" cy="502920"/>
          </a:xfrm>
          <a:prstGeom prst="roundRect">
            <a:avLst>
              <a:gd name="adj" fmla="val 20000"/>
            </a:avLst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1417320"/>
            <a:ext cx="521208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Chief Commissioner for Persons with Disabilities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057400"/>
            <a:ext cx="5212080" cy="11430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Verdana"/>
              </a:rPr>
              <a:t>A national office for cases that go beyond one state, or when the State Commissioner has not helped within 60 days.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200400"/>
            <a:ext cx="521208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200" b="0" i="1">
                <a:solidFill>
                  <a:srgbClr val="F080B0"/>
                </a:solidFill>
                <a:latin typeface="Verdana"/>
              </a:rPr>
              <a:t>Office of the Chief Commissioner, New Delhi.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40480"/>
            <a:ext cx="5486400" cy="22402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17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57200" y="3840480"/>
            <a:ext cx="5486400" cy="502920"/>
          </a:xfrm>
          <a:prstGeom prst="roundRect">
            <a:avLst>
              <a:gd name="adj" fmla="val 20000"/>
            </a:avLst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840480"/>
            <a:ext cx="521208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National Human Rights Commission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480560"/>
            <a:ext cx="5212080" cy="11430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Verdana"/>
              </a:rPr>
              <a:t>For very serious cases — cruelty, abuse, denial of basic rights.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623560"/>
            <a:ext cx="521208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200" b="0" i="1">
                <a:solidFill>
                  <a:srgbClr val="00B0F0"/>
                </a:solidFill>
                <a:latin typeface="Verdana"/>
              </a:rPr>
              <a:t>Especially under Sections 6, 7, and 92.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840480"/>
            <a:ext cx="5486400" cy="22402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1750">
            <a:solidFill>
              <a:srgbClr val="F08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217920" y="3840480"/>
            <a:ext cx="5486400" cy="502920"/>
          </a:xfrm>
          <a:prstGeom prst="roundRect">
            <a:avLst>
              <a:gd name="adj" fmla="val 20000"/>
            </a:avLst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3840480"/>
            <a:ext cx="521208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Disabled People's Organisations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480560"/>
            <a:ext cx="5212080" cy="11430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Verdana"/>
              </a:rPr>
              <a:t>Local groups led by persons with disabilities. They can help you write your complaint and stand with you.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623560"/>
            <a:ext cx="521208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200" b="0" i="1">
                <a:solidFill>
                  <a:srgbClr val="F080B0"/>
                </a:solidFill>
                <a:latin typeface="Verdana"/>
              </a:rPr>
              <a:t>Vidyasagar in Chennai is one such organisation.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7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125 of 127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09728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Verdana"/>
              </a:rPr>
              <a:t>Remember: your rights in one page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161288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1051560"/>
            <a:ext cx="5669280" cy="5486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Verdana"/>
              </a:rPr>
              <a:t>You are equal.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2280" y="1051560"/>
            <a:ext cx="3840480" cy="5486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Verdana"/>
              </a:rPr>
              <a:t>No one can treat you badly.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1051560"/>
            <a:ext cx="1417320" cy="5486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200" b="1" i="1">
                <a:solidFill>
                  <a:srgbClr val="00B0F0"/>
                </a:solidFill>
                <a:latin typeface="Verdana"/>
              </a:rPr>
              <a:t>Section 3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755648"/>
            <a:ext cx="329184" cy="329184"/>
          </a:xfrm>
          <a:prstGeom prst="ellipse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1645920"/>
            <a:ext cx="5669280" cy="5486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Verdana"/>
              </a:rPr>
              <a:t>You can live with your family.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1645920"/>
            <a:ext cx="3840480" cy="5486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Verdana"/>
              </a:rPr>
              <a:t>Not in an institution against your will.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1645920"/>
            <a:ext cx="1417320" cy="5486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200" b="1" i="1">
                <a:solidFill>
                  <a:srgbClr val="F080B0"/>
                </a:solidFill>
                <a:latin typeface="Verdana"/>
              </a:rPr>
              <a:t>Section 5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350008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2240280"/>
            <a:ext cx="5669280" cy="5486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Verdana"/>
              </a:rPr>
              <a:t>No one can hurt or use you.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240280"/>
            <a:ext cx="3840480" cy="5486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Verdana"/>
              </a:rPr>
              <a:t>You can call the police.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2240280"/>
            <a:ext cx="1417320" cy="5486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200" b="1" i="1">
                <a:solidFill>
                  <a:srgbClr val="00B0F0"/>
                </a:solidFill>
                <a:latin typeface="Verdana"/>
              </a:rPr>
              <a:t>Sections 6, 7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2944368"/>
            <a:ext cx="329184" cy="329184"/>
          </a:xfrm>
          <a:prstGeom prst="ellipse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3000" y="2834640"/>
            <a:ext cx="5669280" cy="5486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Verdana"/>
              </a:rPr>
              <a:t>You can go to school.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2834640"/>
            <a:ext cx="3840480" cy="5486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Verdana"/>
              </a:rPr>
              <a:t>Schools must make space for you.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2834640"/>
            <a:ext cx="1417320" cy="5486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200" b="1" i="1">
                <a:solidFill>
                  <a:srgbClr val="F080B0"/>
                </a:solidFill>
                <a:latin typeface="Verdana"/>
              </a:rPr>
              <a:t>Sections 16, 17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3538728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3429000"/>
            <a:ext cx="5669280" cy="5486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Verdana"/>
              </a:rPr>
              <a:t>You can work.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3429000"/>
            <a:ext cx="3840480" cy="5486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Verdana"/>
              </a:rPr>
              <a:t>4 in 100 government jobs are reserved.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3429000"/>
            <a:ext cx="1417320" cy="5486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200" b="1" i="1">
                <a:solidFill>
                  <a:srgbClr val="00B0F0"/>
                </a:solidFill>
                <a:latin typeface="Verdana"/>
              </a:rPr>
              <a:t>Sections 20, 34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4133088"/>
            <a:ext cx="329184" cy="329184"/>
          </a:xfrm>
          <a:prstGeom prst="ellipse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43000" y="4023360"/>
            <a:ext cx="5669280" cy="5486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Verdana"/>
              </a:rPr>
              <a:t>You can have healthcare and a pension.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4023360"/>
            <a:ext cx="3840480" cy="5486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Verdana"/>
              </a:rPr>
              <a:t>Free, close to home.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4023360"/>
            <a:ext cx="1417320" cy="5486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200" b="1" i="1">
                <a:solidFill>
                  <a:srgbClr val="F080B0"/>
                </a:solidFill>
                <a:latin typeface="Verdana"/>
              </a:rPr>
              <a:t>Sections 24, 25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" y="4727448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43000" y="4617720"/>
            <a:ext cx="5669280" cy="5486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Verdana"/>
              </a:rPr>
              <a:t>Buildings and information must work for you.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4617720"/>
            <a:ext cx="3840480" cy="5486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Verdana"/>
              </a:rPr>
              <a:t>Ramps. Lifts. Easy formats.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4617720"/>
            <a:ext cx="1417320" cy="5486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200" b="1" i="1">
                <a:solidFill>
                  <a:srgbClr val="00B0F0"/>
                </a:solidFill>
                <a:latin typeface="Verdana"/>
              </a:rPr>
              <a:t>Sections 40, 42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" y="5321808"/>
            <a:ext cx="329184" cy="329184"/>
          </a:xfrm>
          <a:prstGeom prst="ellipse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43000" y="5212080"/>
            <a:ext cx="5669280" cy="5486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Verdana"/>
              </a:rPr>
              <a:t>If anyone breaks these rules,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5212080"/>
            <a:ext cx="3840480" cy="5486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Verdana"/>
              </a:rPr>
              <a:t>they can be fined or jailed.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0" y="5212080"/>
            <a:ext cx="1417320" cy="5486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200" b="1" i="1">
                <a:solidFill>
                  <a:srgbClr val="F080B0"/>
                </a:solidFill>
                <a:latin typeface="Verdana"/>
              </a:rPr>
              <a:t>Sections 89, 92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852160"/>
            <a:ext cx="11247120" cy="640080"/>
          </a:xfrm>
          <a:prstGeom prst="roundRect">
            <a:avLst>
              <a:gd name="adj" fmla="val 20000"/>
            </a:avLst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7240" y="5852160"/>
            <a:ext cx="10607040" cy="6400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Verdana"/>
              </a:rPr>
              <a:t>Always write the Section number when you raise a complaint. That is what makes it powerful.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7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126 of 127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68680"/>
            <a:ext cx="12191695" cy="109728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800" b="1" i="1">
                <a:solidFill>
                  <a:srgbClr val="FFFFFF"/>
                </a:solidFill>
                <a:latin typeface="Verdana"/>
              </a:rPr>
              <a:t>“Nothing about us without us”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Verdana"/>
              </a:rPr>
              <a:t>Capacity, not dependency.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017520"/>
            <a:ext cx="210312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Verdana"/>
              </a:rPr>
              <a:t>RPwD Act 2016 — Easy Read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69848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  <a:latin typeface="Verdana"/>
              </a:rPr>
              <a:t>All 102 Sections  · 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Verdana"/>
              </a:rPr>
              <a:t>Prepared for the Document Equity Initiative · EquitableDocs</a:t>
            </a:r>
          </a:p>
        </p:txBody>
      </p:sp>
      <p:pic>
        <p:nvPicPr>
          <p:cNvPr id="9" name="Picture 8" descr="vidyasaga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0149" y="4846320"/>
            <a:ext cx="1101221" cy="1005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37760" y="5852160"/>
            <a:ext cx="22860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  <a:latin typeface="Verdana"/>
              </a:rPr>
              <a:t>vidyasagar.co.in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Verdana"/>
              </a:rPr>
              <a:t>Section titles verified against the official Ministry of Law and Justice text. Not legal advice.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28232"/>
            <a:ext cx="12191695" cy="137160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7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127 of 127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14426</Words>
  <Application>Microsoft Office PowerPoint</Application>
  <PresentationFormat>Widescreen</PresentationFormat>
  <Paragraphs>1195</Paragraphs>
  <Slides>127</Slides>
  <Notes>127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127</vt:i4>
      </vt:variant>
    </vt:vector>
  </HeadingPairs>
  <TitlesOfParts>
    <vt:vector size="131" baseType="lpstr">
      <vt:lpstr>Arial</vt:lpstr>
      <vt:lpstr>Calibri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Deepa Palaniappan</dc:creator>
  <cp:keywords/>
  <dc:description>generated using python-pptx</dc:description>
  <cp:lastModifiedBy>Deepa Palaniappan</cp:lastModifiedBy>
  <cp:revision>1</cp:revision>
  <dcterms:created xsi:type="dcterms:W3CDTF">2013-01-27T09:14:16Z</dcterms:created>
  <dcterms:modified xsi:type="dcterms:W3CDTF">2026-04-15T19:32:18Z</dcterms:modified>
  <cp:category/>
</cp:coreProperties>
</file>